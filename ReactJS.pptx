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6"/>
  </p:notesMasterIdLst>
  <p:handoutMasterIdLst>
    <p:handoutMasterId r:id="rId67"/>
  </p:handoutMasterIdLst>
  <p:sldIdLst>
    <p:sldId id="256" r:id="rId2"/>
    <p:sldId id="257" r:id="rId3"/>
    <p:sldId id="302" r:id="rId4"/>
    <p:sldId id="303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69" r:id="rId17"/>
    <p:sldId id="271" r:id="rId18"/>
    <p:sldId id="268" r:id="rId19"/>
    <p:sldId id="272" r:id="rId20"/>
    <p:sldId id="273" r:id="rId21"/>
    <p:sldId id="275" r:id="rId22"/>
    <p:sldId id="276" r:id="rId23"/>
    <p:sldId id="277" r:id="rId24"/>
    <p:sldId id="278" r:id="rId25"/>
    <p:sldId id="280" r:id="rId26"/>
    <p:sldId id="281" r:id="rId27"/>
    <p:sldId id="282" r:id="rId28"/>
    <p:sldId id="283" r:id="rId29"/>
    <p:sldId id="284" r:id="rId30"/>
    <p:sldId id="285" r:id="rId31"/>
    <p:sldId id="279" r:id="rId32"/>
    <p:sldId id="286" r:id="rId33"/>
    <p:sldId id="287" r:id="rId34"/>
    <p:sldId id="292" r:id="rId35"/>
    <p:sldId id="295" r:id="rId36"/>
    <p:sldId id="296" r:id="rId37"/>
    <p:sldId id="293" r:id="rId38"/>
    <p:sldId id="298" r:id="rId39"/>
    <p:sldId id="299" r:id="rId40"/>
    <p:sldId id="300" r:id="rId41"/>
    <p:sldId id="288" r:id="rId42"/>
    <p:sldId id="289" r:id="rId43"/>
    <p:sldId id="290" r:id="rId44"/>
    <p:sldId id="291" r:id="rId45"/>
    <p:sldId id="305" r:id="rId46"/>
    <p:sldId id="304" r:id="rId47"/>
    <p:sldId id="306" r:id="rId48"/>
    <p:sldId id="307" r:id="rId49"/>
    <p:sldId id="308" r:id="rId50"/>
    <p:sldId id="309" r:id="rId51"/>
    <p:sldId id="310" r:id="rId52"/>
    <p:sldId id="311" r:id="rId53"/>
    <p:sldId id="313" r:id="rId54"/>
    <p:sldId id="312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3060" autoAdjust="0"/>
  </p:normalViewPr>
  <p:slideViewPr>
    <p:cSldViewPr snapToGrid="0">
      <p:cViewPr>
        <p:scale>
          <a:sx n="70" d="100"/>
          <a:sy n="70" d="100"/>
        </p:scale>
        <p:origin x="-1032" y="-4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9C347-2187-41A8-A712-5C1E4BD9744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28273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EB96DB-A91F-4089-AACB-8D5570A3FE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17777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541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docs/Web/JavaScript/Reference/Statements/export#using_named_exports" TargetMode="External"/><Relationship Id="rId2" Type="http://schemas.openxmlformats.org/officeDocument/2006/relationships/hyperlink" Target="https://developer.mozilla.org/docs/Web/JavaScript/Reference/Statements/export#using_the_default_export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eloper.mozilla.org/docs/Web/JavaScript/Reference/Statements/import#import_a_single_export_from_a_module" TargetMode="External"/><Relationship Id="rId4" Type="http://schemas.openxmlformats.org/officeDocument/2006/relationships/hyperlink" Target="https://developer.mozilla.org/docs/Web/JavaScript/Reference/Statements/import#importing_defaults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etbootstrap.com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react.dev/learn/passing-props-to-a-component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ReactJS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129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1. Javascript library to </a:t>
            </a:r>
            <a:r>
              <a:rPr lang="en-US" sz="2400" dirty="0" smtClean="0"/>
              <a:t>build </a:t>
            </a:r>
            <a:r>
              <a:rPr lang="en-US" sz="2400" b="1" dirty="0"/>
              <a:t>Dynamic</a:t>
            </a:r>
            <a:r>
              <a:rPr lang="en-US" sz="2400" dirty="0"/>
              <a:t> and </a:t>
            </a:r>
            <a:r>
              <a:rPr lang="en-US" sz="2400" b="1" dirty="0"/>
              <a:t>interactive</a:t>
            </a:r>
            <a:r>
              <a:rPr lang="en-US" sz="2400" dirty="0" smtClean="0"/>
              <a:t> </a:t>
            </a:r>
            <a:r>
              <a:rPr lang="en-US" sz="2400" dirty="0"/>
              <a:t>user interfaces</a:t>
            </a:r>
          </a:p>
          <a:p>
            <a:r>
              <a:rPr lang="en-US" sz="2400" dirty="0"/>
              <a:t>2. developed at facebook in 2011</a:t>
            </a:r>
          </a:p>
          <a:p>
            <a:r>
              <a:rPr lang="en-US" sz="2400" dirty="0"/>
              <a:t>3. Currently most widely used JS library for front-end development</a:t>
            </a:r>
          </a:p>
          <a:p>
            <a:r>
              <a:rPr lang="en-US" sz="2400" dirty="0"/>
              <a:t>4. Used to create single page application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45893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30" y="682459"/>
            <a:ext cx="9050243" cy="434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0766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40" y="686586"/>
            <a:ext cx="9258159" cy="4394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5364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of 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1. Browser takes HTML and create </a:t>
            </a:r>
            <a:r>
              <a:rPr lang="en-US" sz="2400" b="1" dirty="0"/>
              <a:t>DOM</a:t>
            </a:r>
          </a:p>
          <a:p>
            <a:r>
              <a:rPr lang="en-US" sz="2400" dirty="0"/>
              <a:t>2. JS helps us modify DOM based on user actions or events</a:t>
            </a:r>
          </a:p>
          <a:p>
            <a:r>
              <a:rPr lang="en-US" sz="2400" dirty="0"/>
              <a:t>3. In big </a:t>
            </a:r>
            <a:r>
              <a:rPr lang="en-US" sz="2400" dirty="0" smtClean="0"/>
              <a:t>applications, </a:t>
            </a:r>
            <a:r>
              <a:rPr lang="en-US" sz="2400" dirty="0"/>
              <a:t>working with DOM becomes complicated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9013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Problems with 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1.React has a simpler mental model</a:t>
            </a:r>
          </a:p>
          <a:p>
            <a:r>
              <a:rPr lang="en-US" sz="2800" dirty="0"/>
              <a:t>2.JS is cumbersome</a:t>
            </a:r>
          </a:p>
          <a:p>
            <a:r>
              <a:rPr lang="en-US" sz="2800" dirty="0"/>
              <a:t>3.JS is error-prone</a:t>
            </a:r>
          </a:p>
          <a:p>
            <a:r>
              <a:rPr lang="en-US" sz="2800" dirty="0"/>
              <a:t>4.JS is hard to maintain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90766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with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1. No need to worry about </a:t>
            </a:r>
            <a:r>
              <a:rPr lang="en-US" sz="2400" b="1" dirty="0"/>
              <a:t>querying</a:t>
            </a:r>
            <a:r>
              <a:rPr lang="en-US" sz="2400" dirty="0"/>
              <a:t> and </a:t>
            </a:r>
            <a:r>
              <a:rPr lang="en-US" sz="2400" b="1" dirty="0"/>
              <a:t>updating</a:t>
            </a:r>
            <a:r>
              <a:rPr lang="en-US" sz="2400" dirty="0"/>
              <a:t> DOM</a:t>
            </a:r>
          </a:p>
          <a:p>
            <a:r>
              <a:rPr lang="en-US" sz="2400" dirty="0"/>
              <a:t>2. React creates a webpage with </a:t>
            </a:r>
            <a:r>
              <a:rPr lang="en-US" sz="2400" b="1" dirty="0" smtClean="0"/>
              <a:t>small</a:t>
            </a:r>
            <a:r>
              <a:rPr lang="en-US" sz="2400" dirty="0" smtClean="0"/>
              <a:t> </a:t>
            </a:r>
            <a:r>
              <a:rPr lang="en-US" sz="2400" dirty="0"/>
              <a:t>and </a:t>
            </a:r>
            <a:r>
              <a:rPr lang="en-US" sz="2400" b="1" dirty="0"/>
              <a:t>reusable</a:t>
            </a:r>
            <a:r>
              <a:rPr lang="en-US" sz="2400" dirty="0"/>
              <a:t> components</a:t>
            </a:r>
          </a:p>
          <a:p>
            <a:r>
              <a:rPr lang="en-US" sz="2400" dirty="0"/>
              <a:t>3. React will take care of </a:t>
            </a:r>
            <a:r>
              <a:rPr lang="en-US" sz="2400" b="1" dirty="0"/>
              <a:t>creating</a:t>
            </a:r>
            <a:r>
              <a:rPr lang="en-US" sz="2400" dirty="0"/>
              <a:t> and </a:t>
            </a:r>
            <a:r>
              <a:rPr lang="en-US" sz="2400" b="1" dirty="0"/>
              <a:t>updating</a:t>
            </a:r>
            <a:r>
              <a:rPr lang="en-US" sz="2400" dirty="0"/>
              <a:t> DOM elements</a:t>
            </a:r>
          </a:p>
          <a:p>
            <a:r>
              <a:rPr lang="en-US" sz="2400" dirty="0"/>
              <a:t>4. It saves a lot of time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8933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JS Vs React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JS is imperative: You define steps to reach your desire state</a:t>
            </a:r>
          </a:p>
          <a:p>
            <a:r>
              <a:rPr lang="en-US" sz="2400" dirty="0"/>
              <a:t>React is declarative : You define the target UI state and then React figures out how to reach that state.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81457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Introduction to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React application is a tree of components with App Component as the root bringing </a:t>
            </a:r>
            <a:r>
              <a:rPr lang="en-US" sz="2400" dirty="0" smtClean="0"/>
              <a:t>everything </a:t>
            </a:r>
            <a:r>
              <a:rPr lang="en-US" sz="2400" dirty="0"/>
              <a:t>together.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4129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 Latest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1. Search Download NodeJS-- Node is working as a light server for react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92721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a React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Official tool is CRA (Create React APP)</a:t>
            </a:r>
          </a:p>
          <a:p>
            <a:r>
              <a:rPr lang="en-US" dirty="0"/>
              <a:t>2. Vite is a modern tool to create React Project</a:t>
            </a:r>
          </a:p>
          <a:p>
            <a:r>
              <a:rPr lang="en-US" dirty="0"/>
              <a:t>3. Vite produces Quick and Small bundle size</a:t>
            </a:r>
          </a:p>
          <a:p>
            <a:r>
              <a:rPr lang="en-US" dirty="0"/>
              <a:t>4. Vite: Use npm run dev to launch dev server</a:t>
            </a:r>
          </a:p>
          <a:p>
            <a:r>
              <a:rPr lang="en-US" dirty="0"/>
              <a:t>5. Use npm start for CRA</a:t>
            </a:r>
          </a:p>
          <a:p>
            <a:endParaRPr lang="en-US" dirty="0"/>
          </a:p>
          <a:p>
            <a:r>
              <a:rPr lang="en-US" dirty="0"/>
              <a:t>on terminal</a:t>
            </a:r>
          </a:p>
          <a:p>
            <a:endParaRPr lang="en-US" dirty="0"/>
          </a:p>
          <a:p>
            <a:r>
              <a:rPr lang="en-US" dirty="0"/>
              <a:t>npm create vite@latest</a:t>
            </a:r>
          </a:p>
        </p:txBody>
      </p:sp>
    </p:spTree>
    <p:extLst>
      <p:ext uri="{BB962C8B-B14F-4D97-AF65-F5344CB8AC3E}">
        <p14:creationId xmlns:p14="http://schemas.microsoft.com/office/powerpoint/2010/main" val="1276246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node_modules: dependencies are installed as node packages</a:t>
            </a:r>
          </a:p>
          <a:p>
            <a:r>
              <a:rPr lang="en-IN" dirty="0"/>
              <a:t>public/ directory: contains static files that don't change</a:t>
            </a:r>
          </a:p>
          <a:p>
            <a:r>
              <a:rPr lang="en-IN" dirty="0"/>
              <a:t>src/ Directory: main folder for React code</a:t>
            </a:r>
          </a:p>
          <a:p>
            <a:r>
              <a:rPr lang="en-IN" dirty="0"/>
              <a:t>	1. components/: Reusable parts of the UI , like buttons or headers.</a:t>
            </a:r>
          </a:p>
          <a:p>
            <a:r>
              <a:rPr lang="en-IN" dirty="0"/>
              <a:t>	2. assets/: images , fonts and other static files</a:t>
            </a:r>
          </a:p>
          <a:p>
            <a:r>
              <a:rPr lang="en-IN" dirty="0"/>
              <a:t>	3. styles/: CSS or stylesheets</a:t>
            </a:r>
          </a:p>
          <a:p>
            <a:r>
              <a:rPr lang="en-IN" dirty="0"/>
              <a:t>package.json contains information about this project like name , version , dependencies on other react packages.</a:t>
            </a:r>
          </a:p>
          <a:p>
            <a:r>
              <a:rPr lang="en-IN" dirty="0"/>
              <a:t>vite.config.js contains vite config</a:t>
            </a:r>
          </a:p>
          <a:p>
            <a:r>
              <a:rPr lang="en-IN" dirty="0"/>
              <a:t>package-lock.json-- maintains the current values of various dependencies used in the project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018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First App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Component is a simple function</a:t>
            </a:r>
          </a:p>
          <a:p>
            <a:r>
              <a:rPr lang="en-US" dirty="0" smtClean="0"/>
              <a:t>./App.jsx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function App(){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return &lt;h1&gt;Hello World &lt;/h1&gt;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}</a:t>
            </a:r>
            <a:endParaRPr lang="en-IN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export default App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642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Components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Class Components:</a:t>
            </a:r>
          </a:p>
          <a:p>
            <a:pPr marL="0" indent="0">
              <a:buNone/>
            </a:pPr>
            <a:r>
              <a:rPr lang="en-US" dirty="0" smtClean="0"/>
              <a:t>	1.Stateful: Can manage State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2. Lifecycle: Access to lifecycle methods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3. Verbose: More boilerplate code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4. Not preferred anymore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Functional Components: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1. Initially Stateless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2. Can use Hooks for state and effects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3. Simpler and more concise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4. More Popular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3965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Importing and Exporting a component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208127"/>
          </a:xfrm>
        </p:spPr>
        <p:txBody>
          <a:bodyPr>
            <a:normAutofit/>
          </a:bodyPr>
          <a:lstStyle/>
          <a:p>
            <a:r>
              <a:rPr lang="en-US" dirty="0" smtClean="0"/>
              <a:t>You cannot place all components in one file or root component file. You need to move various components out of root component file.</a:t>
            </a:r>
          </a:p>
          <a:p>
            <a:r>
              <a:rPr lang="en-US" dirty="0"/>
              <a:t>This will make them more modular and reusable in other </a:t>
            </a:r>
            <a:r>
              <a:rPr lang="en-US" dirty="0" smtClean="0"/>
              <a:t>files</a:t>
            </a:r>
          </a:p>
          <a:p>
            <a:r>
              <a:rPr lang="en-US" dirty="0"/>
              <a:t>You can move a component in three steps: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Make</a:t>
            </a:r>
            <a:r>
              <a:rPr lang="en-US" dirty="0"/>
              <a:t> a new JS file to put the components in.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Export</a:t>
            </a:r>
            <a:r>
              <a:rPr lang="en-US" dirty="0"/>
              <a:t> your function component from that file (using either </a:t>
            </a:r>
            <a:r>
              <a:rPr lang="en-US" dirty="0">
                <a:hlinkClick r:id="rId2"/>
              </a:rPr>
              <a:t>default</a:t>
            </a:r>
            <a:r>
              <a:rPr lang="en-US" dirty="0"/>
              <a:t> or </a:t>
            </a:r>
            <a:r>
              <a:rPr lang="en-US" dirty="0">
                <a:hlinkClick r:id="rId3"/>
              </a:rPr>
              <a:t>named</a:t>
            </a:r>
            <a:r>
              <a:rPr lang="en-US" dirty="0"/>
              <a:t> exports).</a:t>
            </a:r>
          </a:p>
          <a:p>
            <a:pPr lvl="1">
              <a:buFont typeface="+mj-lt"/>
              <a:buAutoNum type="arabicPeriod"/>
            </a:pPr>
            <a:r>
              <a:rPr lang="en-US" b="1" dirty="0"/>
              <a:t>Import</a:t>
            </a:r>
            <a:r>
              <a:rPr lang="en-US" dirty="0"/>
              <a:t> it in the file where you’ll use the component (using the corresponding technique for importing </a:t>
            </a:r>
            <a:r>
              <a:rPr lang="en-US" dirty="0">
                <a:hlinkClick r:id="rId4"/>
              </a:rPr>
              <a:t>default</a:t>
            </a:r>
            <a:r>
              <a:rPr lang="en-US" dirty="0"/>
              <a:t> or </a:t>
            </a:r>
            <a:r>
              <a:rPr lang="en-US" dirty="0">
                <a:hlinkClick r:id="rId5"/>
              </a:rPr>
              <a:t>named</a:t>
            </a:r>
            <a:r>
              <a:rPr lang="en-US" dirty="0"/>
              <a:t> exports).</a:t>
            </a:r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5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Importing and Exporting components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2160589"/>
            <a:ext cx="8899803" cy="4512927"/>
          </a:xfrm>
        </p:spPr>
        <p:txBody>
          <a:bodyPr/>
          <a:lstStyle/>
          <a:p>
            <a:r>
              <a:rPr lang="en-US" dirty="0"/>
              <a:t>There are two primary ways to export values with JavaScript: default exports and named exports. </a:t>
            </a:r>
            <a:endParaRPr lang="en-US" dirty="0" smtClean="0"/>
          </a:p>
          <a:p>
            <a:r>
              <a:rPr lang="en-US" b="1" dirty="0"/>
              <a:t>A file can have no more than one </a:t>
            </a:r>
            <a:r>
              <a:rPr lang="en-US" b="1" i="1" dirty="0"/>
              <a:t>default</a:t>
            </a:r>
            <a:r>
              <a:rPr lang="en-US" b="1" dirty="0"/>
              <a:t> export, but it can have as many </a:t>
            </a:r>
            <a:r>
              <a:rPr lang="en-US" b="1" i="1" dirty="0"/>
              <a:t>named</a:t>
            </a:r>
            <a:r>
              <a:rPr lang="en-US" b="1" dirty="0"/>
              <a:t> exports as you like.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34" y="3598530"/>
            <a:ext cx="6829425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273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Importing and Exporting components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930400"/>
            <a:ext cx="9105801" cy="364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637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88758"/>
            <a:ext cx="8596668" cy="1320800"/>
          </a:xfrm>
        </p:spPr>
        <p:txBody>
          <a:bodyPr/>
          <a:lstStyle/>
          <a:p>
            <a:r>
              <a:rPr lang="en-US" dirty="0" smtClean="0"/>
              <a:t>JSX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949158"/>
            <a:ext cx="8596668" cy="3880773"/>
          </a:xfrm>
        </p:spPr>
        <p:txBody>
          <a:bodyPr/>
          <a:lstStyle/>
          <a:p>
            <a:r>
              <a:rPr lang="en-US" b="1" i="1" dirty="0"/>
              <a:t>JSX</a:t>
            </a:r>
            <a:r>
              <a:rPr lang="en-US" b="1" dirty="0"/>
              <a:t> is a syntax extension for JavaScript that lets you write HTML-like markup inside a JavaScript file</a:t>
            </a:r>
            <a:r>
              <a:rPr lang="en-US" b="1" dirty="0" smtClean="0"/>
              <a:t>.</a:t>
            </a:r>
          </a:p>
          <a:p>
            <a:r>
              <a:rPr lang="en-US" b="1" dirty="0"/>
              <a:t>I</a:t>
            </a:r>
            <a:r>
              <a:rPr lang="en-US" b="1" dirty="0" smtClean="0"/>
              <a:t>n </a:t>
            </a:r>
            <a:r>
              <a:rPr lang="en-US" b="1" dirty="0"/>
              <a:t>React, rendering logic and markup live together in the same place—components.</a:t>
            </a:r>
            <a:endParaRPr lang="en-US" b="1" dirty="0" smtClean="0"/>
          </a:p>
          <a:p>
            <a:r>
              <a:rPr lang="en-US" dirty="0" smtClean="0"/>
              <a:t>JSX determines how the UI will look wherever the component is used.</a:t>
            </a:r>
          </a:p>
          <a:p>
            <a:r>
              <a:rPr lang="en-US" dirty="0" smtClean="0"/>
              <a:t>JSX stands for Javascript XML</a:t>
            </a:r>
          </a:p>
          <a:p>
            <a:r>
              <a:rPr lang="en-US" dirty="0" smtClean="0"/>
              <a:t>JSX gets converted to regular JavaScript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960" y="3624011"/>
            <a:ext cx="6724650" cy="308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125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88758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Converting HTML to JSX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2000" b="1" dirty="0" smtClean="0">
                <a:solidFill>
                  <a:schemeClr val="tx1"/>
                </a:solidFill>
              </a:rPr>
              <a:t>Many times valid HTML pasted in component gives you error</a:t>
            </a:r>
            <a:endParaRPr lang="en-IN" sz="2000" b="1" dirty="0">
              <a:solidFill>
                <a:schemeClr val="tx1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431" y="1609558"/>
            <a:ext cx="4787332" cy="50825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763" y="2201027"/>
            <a:ext cx="6877050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16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88758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 smtClean="0"/>
              <a:t>The Rules of JSX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7334" y="1609558"/>
            <a:ext cx="859666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 smtClean="0"/>
              <a:t>Return </a:t>
            </a:r>
            <a:r>
              <a:rPr lang="en-US" b="1" dirty="0"/>
              <a:t>a single root </a:t>
            </a:r>
            <a:r>
              <a:rPr lang="en-US" b="1" dirty="0" smtClean="0"/>
              <a:t>element</a:t>
            </a:r>
          </a:p>
          <a:p>
            <a:endParaRPr lang="en-US" b="1" dirty="0"/>
          </a:p>
          <a:p>
            <a:r>
              <a:rPr lang="en-US" dirty="0"/>
              <a:t>To return multiple elements from a component, </a:t>
            </a:r>
            <a:r>
              <a:rPr lang="en-US" b="1" dirty="0"/>
              <a:t>wrap them with a single parent tag</a:t>
            </a:r>
            <a:r>
              <a:rPr lang="en-US" b="1" dirty="0" smtClean="0"/>
              <a:t>.</a:t>
            </a:r>
          </a:p>
          <a:p>
            <a:endParaRPr lang="en-US" b="1" dirty="0"/>
          </a:p>
          <a:p>
            <a:r>
              <a:rPr lang="en-US" b="1" dirty="0"/>
              <a:t>2. Close all the tags</a:t>
            </a:r>
          </a:p>
          <a:p>
            <a:endParaRPr lang="en-US" b="1" dirty="0" smtClean="0"/>
          </a:p>
          <a:p>
            <a:r>
              <a:rPr lang="en-US" b="1" dirty="0" smtClean="0"/>
              <a:t>JSX </a:t>
            </a:r>
            <a:r>
              <a:rPr lang="en-US" b="1" dirty="0"/>
              <a:t>requires tags to be explicitly closed: self-closing tags like &lt;img&gt; must become &lt;img /&gt;, and wrapping tags like &lt;li&gt;oranges must be written as &lt;li&gt;oranges&lt;/li</a:t>
            </a:r>
            <a:r>
              <a:rPr lang="en-US" b="1" dirty="0" smtClean="0"/>
              <a:t>&gt;.</a:t>
            </a:r>
          </a:p>
          <a:p>
            <a:endParaRPr lang="en-US" b="1" dirty="0"/>
          </a:p>
          <a:p>
            <a:r>
              <a:rPr lang="en-US" dirty="0" smtClean="0"/>
              <a:t>3.In React</a:t>
            </a:r>
            <a:r>
              <a:rPr lang="en-US" dirty="0"/>
              <a:t>, many HTML and SVG attributes are written in camelCase. For example, instead of </a:t>
            </a:r>
            <a:r>
              <a:rPr lang="en-US" b="1" dirty="0"/>
              <a:t>stroke-width</a:t>
            </a:r>
            <a:r>
              <a:rPr lang="en-US" dirty="0"/>
              <a:t> you use </a:t>
            </a:r>
            <a:r>
              <a:rPr lang="en-US" b="1" dirty="0"/>
              <a:t>strokeWidth.</a:t>
            </a:r>
            <a:r>
              <a:rPr lang="en-US" dirty="0"/>
              <a:t> Since </a:t>
            </a:r>
            <a:r>
              <a:rPr lang="en-US" b="1" dirty="0"/>
              <a:t>class </a:t>
            </a:r>
            <a:r>
              <a:rPr lang="en-US" dirty="0"/>
              <a:t>is a reserved word, in React you write </a:t>
            </a:r>
            <a:r>
              <a:rPr lang="en-US" b="1" dirty="0"/>
              <a:t>className</a:t>
            </a:r>
          </a:p>
          <a:p>
            <a:endParaRPr lang="en-US" dirty="0" smtClean="0"/>
          </a:p>
          <a:p>
            <a:r>
              <a:rPr lang="en-US" dirty="0" smtClean="0"/>
              <a:t>4. </a:t>
            </a:r>
            <a:r>
              <a:rPr lang="en-IN" b="1" dirty="0"/>
              <a:t>Use a JSX Converter</a:t>
            </a:r>
          </a:p>
          <a:p>
            <a:r>
              <a:rPr lang="en-IN" dirty="0"/>
              <a:t>https://transform.tools/html-to-jsx</a:t>
            </a:r>
          </a:p>
        </p:txBody>
      </p:sp>
    </p:spTree>
    <p:extLst>
      <p:ext uri="{BB962C8B-B14F-4D97-AF65-F5344CB8AC3E}">
        <p14:creationId xmlns:p14="http://schemas.microsoft.com/office/powerpoint/2010/main" val="2614638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Components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JSX allows the creation of dynamic and interactive UI components</a:t>
            </a:r>
          </a:p>
          <a:p>
            <a:r>
              <a:rPr lang="en-US" dirty="0" smtClean="0"/>
              <a:t>Using { } , we can embed any JS expression directly within JSX. This includes variables , function calls and more.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404" y="4100975"/>
            <a:ext cx="6543675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79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Components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1982" y="3314700"/>
            <a:ext cx="5562600" cy="3543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7334" y="1930400"/>
            <a:ext cx="8145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You can insert CSS using double curly {{}} in JSX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246" y="4683793"/>
            <a:ext cx="6877050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97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Components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561474" y="1930400"/>
            <a:ext cx="871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You can have method in the JSX using {}</a:t>
            </a:r>
            <a:endParaRPr lang="en-IN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474" y="2706020"/>
            <a:ext cx="7388114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96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Reusable </a:t>
            </a:r>
            <a:r>
              <a:rPr lang="en-US" dirty="0"/>
              <a:t>Components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2208703"/>
            <a:ext cx="8596312" cy="378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76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Including Bootstrap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Mobile-first design for all device</a:t>
            </a:r>
          </a:p>
          <a:p>
            <a:r>
              <a:rPr lang="en-US" dirty="0" smtClean="0"/>
              <a:t>Pre-styled elements like buttons and navbars etc.</a:t>
            </a:r>
          </a:p>
          <a:p>
            <a:r>
              <a:rPr lang="en-US" dirty="0" smtClean="0"/>
              <a:t>Modify default styles as needed</a:t>
            </a:r>
          </a:p>
          <a:p>
            <a:r>
              <a:rPr lang="en-US" dirty="0" smtClean="0"/>
              <a:t>Consistent look across browsers</a:t>
            </a:r>
          </a:p>
          <a:p>
            <a:endParaRPr lang="en-US" dirty="0" smtClean="0"/>
          </a:p>
          <a:p>
            <a:r>
              <a:rPr lang="en-US" dirty="0">
                <a:hlinkClick r:id="rId2"/>
              </a:rPr>
              <a:t>https://getbootstrap.com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r>
              <a:rPr lang="en-US" dirty="0" smtClean="0"/>
              <a:t>To install </a:t>
            </a:r>
            <a:r>
              <a:rPr lang="en-US" dirty="0"/>
              <a:t>--   npm i bootstrap@5.3.3</a:t>
            </a:r>
            <a:endParaRPr lang="en-US" dirty="0" smtClean="0"/>
          </a:p>
          <a:p>
            <a:r>
              <a:rPr lang="en-US" dirty="0" smtClean="0"/>
              <a:t>Import “bootstrap/dist/css/bootstrap.min.css”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1655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Including Bootstrap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8248" y="1930400"/>
            <a:ext cx="5172131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526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Project: TODO APP UI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In one component APP.JSX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3968" y="2229854"/>
            <a:ext cx="8149209" cy="274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45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Project: TODO APP UI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Using different component and CSS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3399086"/>
            <a:ext cx="11106804" cy="181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6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MAP Method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Render lists from array data</a:t>
            </a:r>
          </a:p>
          <a:p>
            <a:r>
              <a:rPr lang="en-US" dirty="0" smtClean="0"/>
              <a:t>Transform array items into JSX</a:t>
            </a:r>
          </a:p>
          <a:p>
            <a:r>
              <a:rPr lang="en-US" dirty="0" smtClean="0"/>
              <a:t>Inline Rendering: Directly inside JSX</a:t>
            </a:r>
          </a:p>
          <a:p>
            <a:pPr marL="0" indent="0">
              <a:buNone/>
            </a:pPr>
            <a:r>
              <a:rPr lang="en-US" dirty="0" smtClean="0"/>
              <a:t>[items.map(item =&gt; &lt;l1 key={item.id}&lt;/li&gt;</a:t>
            </a:r>
          </a:p>
          <a:p>
            <a:r>
              <a:rPr lang="en-US" dirty="0" smtClean="0"/>
              <a:t>Assign unique key for optimized re-renders</a:t>
            </a:r>
          </a:p>
          <a:p>
            <a:pPr marL="0" indent="0">
              <a:buNone/>
            </a:pPr>
            <a:r>
              <a:rPr lang="en-US" dirty="0" smtClean="0"/>
              <a:t>&lt;div key={item.id}&gt;{item.name}&lt;/div&gt;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4828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MAP Method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3" y="1423762"/>
            <a:ext cx="8146085" cy="448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054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Conditional Rendering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463" y="1475898"/>
            <a:ext cx="10587790" cy="5566586"/>
          </a:xfrm>
        </p:spPr>
        <p:txBody>
          <a:bodyPr>
            <a:normAutofit/>
          </a:bodyPr>
          <a:lstStyle/>
          <a:p>
            <a:r>
              <a:rPr lang="en-US" dirty="0"/>
              <a:t>Your components will often need to display different things depending on different conditions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In React, you can conditionally render JSX using JavaScript syntax like if statements, &amp;&amp;, and ? : operators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If-else statements </a:t>
            </a:r>
          </a:p>
          <a:p>
            <a:r>
              <a:rPr lang="en-US" dirty="0" smtClean="0"/>
              <a:t>Ternary operators</a:t>
            </a:r>
          </a:p>
          <a:p>
            <a:r>
              <a:rPr lang="en-US" dirty="0" smtClean="0"/>
              <a:t>Logical operators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{ condition &amp;&amp; &lt;div&gt; Write Something &lt;/div&gt; }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{!condition ? &lt;div&gt; Error do it again &lt;div&gt; : &lt;div&gt; Congratulations&lt;/div&gt;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76463" y="4950295"/>
            <a:ext cx="7873108" cy="136357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3180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Conditional Rendering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463" y="1475898"/>
            <a:ext cx="10587790" cy="5566586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function Ifelse() {</a:t>
            </a:r>
          </a:p>
          <a:p>
            <a:r>
              <a:rPr lang="en-IN" dirty="0"/>
              <a:t>  //let food = ["Chapati", "Milk", "Dal", "Fruits", "Dosa"];</a:t>
            </a:r>
          </a:p>
          <a:p>
            <a:r>
              <a:rPr lang="en-IN" dirty="0"/>
              <a:t>  let food = [];</a:t>
            </a:r>
          </a:p>
          <a:p>
            <a:r>
              <a:rPr lang="en-IN" dirty="0"/>
              <a:t>  if (food.length === 0) {</a:t>
            </a:r>
          </a:p>
          <a:p>
            <a:r>
              <a:rPr lang="en-IN" dirty="0"/>
              <a:t>    return &lt;h1&gt;Please Give Me Food&lt;/h1&gt;;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  return (</a:t>
            </a:r>
          </a:p>
          <a:p>
            <a:r>
              <a:rPr lang="en-IN" dirty="0"/>
              <a:t>    &lt;&gt;</a:t>
            </a:r>
          </a:p>
          <a:p>
            <a:r>
              <a:rPr lang="en-IN" dirty="0"/>
              <a:t>      &lt;h3&gt;My Fav Food List&lt;/h3&gt;</a:t>
            </a:r>
          </a:p>
          <a:p>
            <a:r>
              <a:rPr lang="en-IN" dirty="0"/>
              <a:t>      &lt;ul className="list-group list-group-flush"&gt;</a:t>
            </a:r>
          </a:p>
          <a:p>
            <a:r>
              <a:rPr lang="en-IN" dirty="0"/>
              <a:t>        {food.map((item) =&gt; (</a:t>
            </a:r>
          </a:p>
          <a:p>
            <a:r>
              <a:rPr lang="en-IN" dirty="0"/>
              <a:t>          &lt;li key={item} className="list-group-item"&gt;</a:t>
            </a:r>
          </a:p>
          <a:p>
            <a:r>
              <a:rPr lang="en-IN" dirty="0"/>
              <a:t>            {item}</a:t>
            </a:r>
          </a:p>
          <a:p>
            <a:r>
              <a:rPr lang="en-IN" dirty="0"/>
              <a:t>          &lt;/li&gt;</a:t>
            </a:r>
          </a:p>
          <a:p>
            <a:r>
              <a:rPr lang="en-IN" dirty="0"/>
              <a:t>        ))}</a:t>
            </a:r>
          </a:p>
          <a:p>
            <a:r>
              <a:rPr lang="en-IN" dirty="0"/>
              <a:t>      &lt;/ul&gt;</a:t>
            </a:r>
          </a:p>
          <a:p>
            <a:r>
              <a:rPr lang="en-IN" dirty="0"/>
              <a:t>    &lt;/&gt;</a:t>
            </a:r>
          </a:p>
          <a:p>
            <a:r>
              <a:rPr lang="en-IN" dirty="0"/>
              <a:t>  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0569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463" y="1475898"/>
            <a:ext cx="10587790" cy="4855891"/>
          </a:xfrm>
        </p:spPr>
        <p:txBody>
          <a:bodyPr>
            <a:normAutofit/>
          </a:bodyPr>
          <a:lstStyle/>
          <a:p>
            <a:r>
              <a:rPr lang="en-US" dirty="0"/>
              <a:t>React components use </a:t>
            </a:r>
            <a:r>
              <a:rPr lang="en-US" i="1" dirty="0"/>
              <a:t>props</a:t>
            </a:r>
            <a:r>
              <a:rPr lang="en-US" dirty="0"/>
              <a:t> to communicate with each other. </a:t>
            </a:r>
            <a:endParaRPr lang="en-US" dirty="0" smtClean="0"/>
          </a:p>
          <a:p>
            <a:r>
              <a:rPr lang="en-US" dirty="0" smtClean="0"/>
              <a:t>Every </a:t>
            </a:r>
            <a:r>
              <a:rPr lang="en-US" dirty="0"/>
              <a:t>parent component can pass some information to its child components by giving them props. </a:t>
            </a:r>
            <a:endParaRPr lang="en-US" dirty="0" smtClean="0"/>
          </a:p>
          <a:p>
            <a:r>
              <a:rPr lang="en-US" dirty="0" smtClean="0"/>
              <a:t>Props </a:t>
            </a:r>
            <a:r>
              <a:rPr lang="en-US" dirty="0"/>
              <a:t>might remind you of HTML attributes, but you can pass any JavaScript value through them, including objects, arrays, and functions.</a:t>
            </a:r>
            <a:endParaRPr lang="en-IN" dirty="0"/>
          </a:p>
        </p:txBody>
      </p:sp>
      <p:sp>
        <p:nvSpPr>
          <p:cNvPr id="6" name="Oval 5"/>
          <p:cNvSpPr/>
          <p:nvPr/>
        </p:nvSpPr>
        <p:spPr>
          <a:xfrm>
            <a:off x="1583140" y="3439236"/>
            <a:ext cx="2470245" cy="19789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Parent Component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6455391" y="3439236"/>
            <a:ext cx="1323833" cy="8325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Child 1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6484959" y="4519700"/>
            <a:ext cx="1323833" cy="8325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Child 2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4080681" y="3957851"/>
            <a:ext cx="2306472" cy="31389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080681" y="4533348"/>
            <a:ext cx="2374710" cy="41625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67795" y="4087509"/>
            <a:ext cx="1228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pass by </a:t>
            </a:r>
            <a:r>
              <a:rPr lang="en-US" i="1" dirty="0" smtClean="0"/>
              <a:t>props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719669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Props : Example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76463" y="1941464"/>
            <a:ext cx="514709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Person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"./Person"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IN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smtClean="0">
                <a:solidFill>
                  <a:srgbClr val="795E26"/>
                </a:solidFill>
                <a:latin typeface="Consolas" panose="020B0609020204030204" pitchFamily="49" charset="0"/>
              </a:rPr>
              <a:t>App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smtClean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‘Rajeev’;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IN" dirty="0" smtClean="0">
                <a:solidFill>
                  <a:srgbClr val="267F99"/>
                </a:solidFill>
                <a:latin typeface="Consolas" panose="020B0609020204030204" pitchFamily="49" charset="0"/>
              </a:rPr>
              <a:t>Person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smtClean="0">
                <a:solidFill>
                  <a:srgbClr val="E50000"/>
                </a:solidFill>
                <a:latin typeface="Consolas" panose="020B0609020204030204" pitchFamily="49" charset="0"/>
              </a:rPr>
              <a:t>nameData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dirty="0" smtClean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dirty="0" smtClean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 /</a:t>
            </a:r>
            <a:r>
              <a:rPr lang="en-IN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&lt;/&gt;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23557" y="1891484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Person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props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0000"/>
                </a:solidFill>
                <a:latin typeface="Consolas"/>
              </a:rPr>
              <a:t>&lt;div&gt;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Hello Mr.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&lt;b&gt;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props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.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nameData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&lt;/b&gt;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&lt;/div&gt;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>
                <a:solidFill>
                  <a:srgbClr val="AF00DB"/>
                </a:solidFill>
                <a:latin typeface="Consolas"/>
              </a:rPr>
              <a:t>export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default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Person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08543" y="1487606"/>
            <a:ext cx="6168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 of </a:t>
            </a:r>
            <a:r>
              <a:rPr lang="en-US" b="1" i="1" dirty="0" smtClean="0"/>
              <a:t>Props</a:t>
            </a:r>
            <a:r>
              <a:rPr lang="en-US" dirty="0" smtClean="0"/>
              <a:t> using Object.property</a:t>
            </a:r>
          </a:p>
        </p:txBody>
      </p:sp>
    </p:spTree>
    <p:extLst>
      <p:ext uri="{BB962C8B-B14F-4D97-AF65-F5344CB8AC3E}">
        <p14:creationId xmlns:p14="http://schemas.microsoft.com/office/powerpoint/2010/main" val="990037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6463" y="1941464"/>
            <a:ext cx="514709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Person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"./Person"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IN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795E26"/>
                </a:solidFill>
                <a:latin typeface="Consolas" panose="020B0609020204030204" pitchFamily="49" charset="0"/>
              </a:rPr>
              <a:t>App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smtClean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‘Rajeev’;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IN" dirty="0" smtClean="0">
                <a:solidFill>
                  <a:srgbClr val="267F99"/>
                </a:solidFill>
                <a:latin typeface="Consolas" panose="020B0609020204030204" pitchFamily="49" charset="0"/>
              </a:rPr>
              <a:t>Person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smtClean="0">
                <a:solidFill>
                  <a:srgbClr val="E50000"/>
                </a:solidFill>
                <a:latin typeface="Consolas" panose="020B0609020204030204" pitchFamily="49" charset="0"/>
              </a:rPr>
              <a:t>nameData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dirty="0" smtClean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dirty="0" smtClean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 /</a:t>
            </a:r>
            <a:r>
              <a:rPr lang="en-IN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&lt;/&gt;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23557" y="1891484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Person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props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3B3B3B"/>
                </a:solidFill>
                <a:latin typeface="Consolas"/>
              </a:rPr>
              <a:t>{</a:t>
            </a:r>
          </a:p>
          <a:p>
            <a:endParaRPr lang="en-US" dirty="0" smtClean="0">
              <a:solidFill>
                <a:srgbClr val="0000FF"/>
              </a:solidFill>
              <a:latin typeface="Consolas"/>
            </a:endParaRP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   let</a:t>
            </a:r>
            <a:r>
              <a:rPr lang="en-US" dirty="0" smtClean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{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nameData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}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props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endParaRPr lang="en-US" dirty="0" smtClean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0000"/>
                </a:solidFill>
                <a:latin typeface="Consolas"/>
              </a:rPr>
              <a:t>&lt;div&gt;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Hello Mr.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&lt;b</a:t>
            </a:r>
            <a:r>
              <a:rPr lang="en-US" dirty="0" smtClean="0">
                <a:solidFill>
                  <a:srgbClr val="80000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{</a:t>
            </a:r>
            <a:r>
              <a:rPr lang="en-US" dirty="0" smtClean="0">
                <a:solidFill>
                  <a:srgbClr val="001080"/>
                </a:solidFill>
                <a:latin typeface="Consolas"/>
              </a:rPr>
              <a:t>nameData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&lt;/b&gt;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&lt;/div&gt;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>
                <a:solidFill>
                  <a:srgbClr val="AF00DB"/>
                </a:solidFill>
                <a:latin typeface="Consolas"/>
              </a:rPr>
              <a:t>export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default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Person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08543" y="1487606"/>
            <a:ext cx="6168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 of </a:t>
            </a:r>
            <a:r>
              <a:rPr lang="en-US" b="1" i="1" dirty="0" smtClean="0"/>
              <a:t>Props</a:t>
            </a:r>
            <a:r>
              <a:rPr lang="en-US" dirty="0" smtClean="0"/>
              <a:t> using Object Destructuring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 smtClean="0"/>
              <a:t>Props : Example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2551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6463" y="1941464"/>
            <a:ext cx="514709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Person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"./Person"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IN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795E26"/>
                </a:solidFill>
                <a:latin typeface="Consolas" panose="020B0609020204030204" pitchFamily="49" charset="0"/>
              </a:rPr>
              <a:t>App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smtClean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‘Rajeev’;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 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IN" dirty="0" smtClean="0">
                <a:solidFill>
                  <a:srgbClr val="267F99"/>
                </a:solidFill>
                <a:latin typeface="Consolas" panose="020B0609020204030204" pitchFamily="49" charset="0"/>
              </a:rPr>
              <a:t>Person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smtClean="0">
                <a:solidFill>
                  <a:srgbClr val="E50000"/>
                </a:solidFill>
                <a:latin typeface="Consolas" panose="020B0609020204030204" pitchFamily="49" charset="0"/>
              </a:rPr>
              <a:t>nameData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dirty="0" smtClean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dirty="0" smtClean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 /</a:t>
            </a:r>
            <a:r>
              <a:rPr lang="en-IN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&lt;/&gt;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23557" y="1891484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Person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{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nameData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}</a:t>
            </a:r>
            <a:r>
              <a:rPr lang="en-US" dirty="0" smtClean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3B3B3B"/>
                </a:solidFill>
                <a:latin typeface="Consolas"/>
              </a:rPr>
              <a:t>{</a:t>
            </a:r>
          </a:p>
          <a:p>
            <a:endParaRPr lang="en-US" dirty="0" smtClean="0">
              <a:solidFill>
                <a:srgbClr val="0000FF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0000"/>
                </a:solidFill>
                <a:latin typeface="Consolas"/>
              </a:rPr>
              <a:t>&lt;div&gt;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Hello Mr.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&lt;b</a:t>
            </a:r>
            <a:r>
              <a:rPr lang="en-US" dirty="0" smtClean="0">
                <a:solidFill>
                  <a:srgbClr val="80000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{</a:t>
            </a:r>
            <a:r>
              <a:rPr lang="en-US" dirty="0" smtClean="0">
                <a:solidFill>
                  <a:srgbClr val="001080"/>
                </a:solidFill>
                <a:latin typeface="Consolas"/>
              </a:rPr>
              <a:t>nameData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&lt;/b&gt;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&lt;/div&gt;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>
                <a:solidFill>
                  <a:srgbClr val="AF00DB"/>
                </a:solidFill>
                <a:latin typeface="Consolas"/>
              </a:rPr>
              <a:t>export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default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Person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08543" y="1487606"/>
            <a:ext cx="6168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 of </a:t>
            </a:r>
            <a:r>
              <a:rPr lang="en-US" b="1" i="1" dirty="0" smtClean="0"/>
              <a:t>Props</a:t>
            </a:r>
            <a:r>
              <a:rPr lang="en-US" dirty="0" smtClean="0"/>
              <a:t> using Object Destructuring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829734" y="7620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Props : Example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7093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6463" y="1845928"/>
            <a:ext cx="5147094" cy="34163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001080"/>
                </a:solidFill>
                <a:latin typeface="Consolas"/>
              </a:rPr>
              <a:t>ItemList</a:t>
            </a:r>
            <a:r>
              <a:rPr lang="en-US" dirty="0" smtClean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"./ItemList"</a:t>
            </a:r>
            <a:r>
              <a:rPr lang="en-US" dirty="0" smtClean="0">
                <a:solidFill>
                  <a:srgbClr val="3B3B3B"/>
                </a:solidFill>
                <a:latin typeface="Consolas"/>
              </a:rPr>
              <a:t>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IN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795E26"/>
                </a:solidFill>
                <a:latin typeface="Consolas" panose="020B0609020204030204" pitchFamily="49" charset="0"/>
              </a:rPr>
              <a:t>App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food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"Chapati"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"Milk"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"Dal"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"Fruits"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"Dosa"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"Ragi"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&lt;h3&gt;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My Fav Food List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&lt;/h3</a:t>
            </a:r>
            <a:r>
              <a:rPr lang="en-IN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IN" dirty="0">
                <a:solidFill>
                  <a:srgbClr val="267F99"/>
                </a:solidFill>
                <a:latin typeface="Consolas" panose="020B0609020204030204" pitchFamily="49" charset="0"/>
              </a:rPr>
              <a:t>ItemList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E50000"/>
                </a:solidFill>
                <a:latin typeface="Consolas" panose="020B0609020204030204" pitchFamily="49" charset="0"/>
              </a:rPr>
              <a:t>items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food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&lt;/&gt;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05445" y="1850540"/>
            <a:ext cx="6096000" cy="286232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795E26"/>
                </a:solidFill>
                <a:latin typeface="Consolas" panose="020B0609020204030204" pitchFamily="49" charset="0"/>
              </a:rPr>
              <a:t>ItemList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 ({ 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items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}) 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=&gt;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&lt;ul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E50000"/>
                </a:solidFill>
                <a:latin typeface="Consolas" panose="020B0609020204030204" pitchFamily="49" charset="0"/>
              </a:rPr>
              <a:t>className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"list-group list-group-flush"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items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IN" dirty="0">
                <a:solidFill>
                  <a:srgbClr val="795E26"/>
                </a:solidFill>
                <a:latin typeface="Consolas" panose="020B0609020204030204" pitchFamily="49" charset="0"/>
              </a:rPr>
              <a:t>map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=&gt;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IN" dirty="0" smtClean="0">
                <a:solidFill>
                  <a:srgbClr val="267F99"/>
                </a:solidFill>
                <a:latin typeface="Consolas" panose="020B0609020204030204" pitchFamily="49" charset="0"/>
              </a:rPr>
              <a:t>li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E50000"/>
                </a:solidFill>
                <a:latin typeface="Consolas" panose="020B0609020204030204" pitchFamily="49" charset="0"/>
              </a:rPr>
              <a:t>key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IN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IN" dirty="0" smtClean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IN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&lt;/li&gt;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  ))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&lt;/ul&gt;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47951" y="1337478"/>
            <a:ext cx="6168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Pass Array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 smtClean="0"/>
              <a:t>Props : Example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8087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6463" y="1845928"/>
            <a:ext cx="5147094" cy="34163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001080"/>
                </a:solidFill>
                <a:latin typeface="Consolas"/>
              </a:rPr>
              <a:t>ItemList</a:t>
            </a:r>
            <a:r>
              <a:rPr lang="en-US" dirty="0" smtClean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"./ItemList"</a:t>
            </a:r>
            <a:r>
              <a:rPr lang="en-US" dirty="0" smtClean="0">
                <a:solidFill>
                  <a:srgbClr val="3B3B3B"/>
                </a:solidFill>
                <a:latin typeface="Consolas"/>
              </a:rPr>
              <a:t>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IN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795E26"/>
                </a:solidFill>
                <a:latin typeface="Consolas" panose="020B0609020204030204" pitchFamily="49" charset="0"/>
              </a:rPr>
              <a:t>App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food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"Chapati"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"Milk"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"Dal"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"Fruits"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"Dosa"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"Ragi"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&lt;h3&gt;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My Fav Food List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&lt;/h3</a:t>
            </a:r>
            <a:r>
              <a:rPr lang="en-IN" dirty="0" smtClean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IN" dirty="0">
                <a:solidFill>
                  <a:srgbClr val="267F99"/>
                </a:solidFill>
                <a:latin typeface="Consolas" panose="020B0609020204030204" pitchFamily="49" charset="0"/>
              </a:rPr>
              <a:t>ItemList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E50000"/>
                </a:solidFill>
                <a:latin typeface="Consolas" panose="020B0609020204030204" pitchFamily="49" charset="0"/>
              </a:rPr>
              <a:t>items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food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&lt;/&gt;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596517" y="663164"/>
            <a:ext cx="6096000" cy="3693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Item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"./Item"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IN" dirty="0" smtClean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795E26"/>
                </a:solidFill>
                <a:latin typeface="Consolas" panose="020B0609020204030204" pitchFamily="49" charset="0"/>
              </a:rPr>
              <a:t>ItemList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 ({ 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items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}) 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=&gt;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&lt;ul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E50000"/>
                </a:solidFill>
                <a:latin typeface="Consolas" panose="020B0609020204030204" pitchFamily="49" charset="0"/>
              </a:rPr>
              <a:t>className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"list-group list-group-flush"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items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IN" dirty="0">
                <a:solidFill>
                  <a:srgbClr val="795E26"/>
                </a:solidFill>
                <a:latin typeface="Consolas" panose="020B0609020204030204" pitchFamily="49" charset="0"/>
              </a:rPr>
              <a:t>map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=&gt;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IN" dirty="0">
                <a:solidFill>
                  <a:srgbClr val="267F99"/>
                </a:solidFill>
                <a:latin typeface="Consolas" panose="020B0609020204030204" pitchFamily="49" charset="0"/>
              </a:rPr>
              <a:t>Itemn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E50000"/>
                </a:solidFill>
                <a:latin typeface="Consolas" panose="020B0609020204030204" pitchFamily="49" charset="0"/>
              </a:rPr>
              <a:t>key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E50000"/>
                </a:solidFill>
                <a:latin typeface="Consolas" panose="020B0609020204030204" pitchFamily="49" charset="0"/>
              </a:rPr>
              <a:t>foodItem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  ))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&lt;/ul&gt;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dirty="0">
                <a:solidFill>
                  <a:srgbClr val="AF00DB"/>
                </a:solidFill>
                <a:latin typeface="Consolas"/>
              </a:rPr>
              <a:t>export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default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795E26"/>
                </a:solidFill>
                <a:latin typeface="Consolas"/>
              </a:rPr>
              <a:t>ItemList</a:t>
            </a:r>
            <a:r>
              <a:rPr lang="en-US" dirty="0" smtClean="0">
                <a:solidFill>
                  <a:srgbClr val="3B3B3B"/>
                </a:solidFill>
                <a:latin typeface="Consolas"/>
              </a:rPr>
              <a:t>;</a:t>
            </a:r>
            <a:endParaRPr lang="en-US" dirty="0">
              <a:solidFill>
                <a:srgbClr val="3B3B3B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47951" y="1337478"/>
            <a:ext cx="150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Pass Array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 smtClean="0"/>
              <a:t>Props : Example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5490945" y="4857063"/>
            <a:ext cx="6096000" cy="17543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dirty="0" smtClean="0">
                <a:solidFill>
                  <a:srgbClr val="AF00DB"/>
                </a:solidFill>
                <a:latin typeface="Consolas"/>
              </a:rPr>
              <a:t>export</a:t>
            </a:r>
            <a:r>
              <a:rPr lang="en-US" dirty="0" smtClean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default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function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795E26"/>
                </a:solidFill>
                <a:latin typeface="Consolas"/>
              </a:rPr>
              <a:t>Itemn</a:t>
            </a:r>
            <a:r>
              <a:rPr lang="en-US" dirty="0" smtClean="0">
                <a:solidFill>
                  <a:srgbClr val="3B3B3B"/>
                </a:solidFill>
                <a:latin typeface="Consolas"/>
              </a:rPr>
              <a:t>({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foodItem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})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&lt;li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E50000"/>
                </a:solidFill>
                <a:latin typeface="Consolas"/>
              </a:rPr>
              <a:t>className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'list-group-item'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&gt;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foodItem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&lt;/li&gt;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)</a:t>
            </a:r>
          </a:p>
          <a:p>
            <a:r>
              <a:rPr lang="en-US" dirty="0" smtClean="0">
                <a:solidFill>
                  <a:srgbClr val="3B3B3B"/>
                </a:solidFill>
                <a:latin typeface="Consolas"/>
              </a:rPr>
              <a:t>}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71098" y="138749"/>
            <a:ext cx="1881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Pass Data Item</a:t>
            </a:r>
          </a:p>
        </p:txBody>
      </p:sp>
    </p:spTree>
    <p:extLst>
      <p:ext uri="{BB962C8B-B14F-4D97-AF65-F5344CB8AC3E}">
        <p14:creationId xmlns:p14="http://schemas.microsoft.com/office/powerpoint/2010/main" val="3175732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Props : </a:t>
            </a:r>
            <a:r>
              <a:rPr lang="en-US" dirty="0"/>
              <a:t>Passing Components as Children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176463" y="1941464"/>
            <a:ext cx="514709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&lt;</a:t>
            </a:r>
            <a:r>
              <a:rPr lang="en-US" sz="2000" dirty="0">
                <a:solidFill>
                  <a:srgbClr val="267F99"/>
                </a:solidFill>
                <a:latin typeface="Consolas"/>
              </a:rPr>
              <a:t>Container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&gt;</a:t>
            </a:r>
            <a:endParaRPr lang="en-US" sz="2000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/>
              </a:rPr>
              <a:t>      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&lt;h1&gt;</a:t>
            </a:r>
            <a:r>
              <a:rPr lang="en-US" sz="2000" dirty="0">
                <a:solidFill>
                  <a:srgbClr val="3B3B3B"/>
                </a:solidFill>
                <a:latin typeface="Consolas"/>
              </a:rPr>
              <a:t>This is my container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&lt;/h1&gt;</a:t>
            </a:r>
            <a:endParaRPr lang="en-US" sz="2000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/>
              </a:rPr>
              <a:t>      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&lt;p&gt;</a:t>
            </a:r>
            <a:r>
              <a:rPr lang="en-US" sz="2000" dirty="0">
                <a:solidFill>
                  <a:srgbClr val="3B3B3B"/>
                </a:solidFill>
                <a:latin typeface="Consolas"/>
              </a:rPr>
              <a:t>Welcome to ABESIT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&lt;/p&gt;</a:t>
            </a:r>
            <a:endParaRPr lang="en-US" sz="2000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&lt;/</a:t>
            </a:r>
            <a:r>
              <a:rPr lang="en-US" sz="2000" dirty="0">
                <a:solidFill>
                  <a:srgbClr val="267F99"/>
                </a:solidFill>
                <a:latin typeface="Consolas"/>
              </a:rPr>
              <a:t>Container</a:t>
            </a:r>
            <a:r>
              <a:rPr lang="en-US" sz="2000" dirty="0" smtClean="0">
                <a:solidFill>
                  <a:srgbClr val="800000"/>
                </a:solidFill>
                <a:latin typeface="Consolas"/>
              </a:rPr>
              <a:t>&gt;</a:t>
            </a:r>
          </a:p>
          <a:p>
            <a:endParaRPr lang="en-US" sz="2000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&lt;</a:t>
            </a:r>
            <a:r>
              <a:rPr lang="en-US" sz="2000" dirty="0">
                <a:solidFill>
                  <a:srgbClr val="267F99"/>
                </a:solidFill>
                <a:latin typeface="Consolas"/>
              </a:rPr>
              <a:t>Container</a:t>
            </a:r>
            <a:r>
              <a:rPr lang="en-US" sz="2000" dirty="0" smtClean="0">
                <a:solidFill>
                  <a:srgbClr val="800000"/>
                </a:solidFill>
                <a:latin typeface="Consolas"/>
              </a:rPr>
              <a:t>&gt;</a:t>
            </a:r>
          </a:p>
          <a:p>
            <a:r>
              <a:rPr lang="en-US" sz="2000" dirty="0">
                <a:solidFill>
                  <a:srgbClr val="800000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800000"/>
                </a:solidFill>
                <a:latin typeface="Consolas"/>
              </a:rPr>
              <a:t>        &lt;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p&gt;</a:t>
            </a:r>
            <a:r>
              <a:rPr lang="en-US" sz="2000" dirty="0">
                <a:solidFill>
                  <a:srgbClr val="3B3B3B"/>
                </a:solidFill>
                <a:latin typeface="Consolas"/>
              </a:rPr>
              <a:t>this is a </a:t>
            </a:r>
            <a:r>
              <a:rPr lang="en-US" sz="2000" dirty="0" smtClean="0">
                <a:solidFill>
                  <a:srgbClr val="3B3B3B"/>
                </a:solidFill>
                <a:latin typeface="Consolas"/>
              </a:rPr>
              <a:t>new app</a:t>
            </a:r>
            <a:r>
              <a:rPr lang="en-US" sz="2000" dirty="0" smtClean="0">
                <a:solidFill>
                  <a:srgbClr val="800000"/>
                </a:solidFill>
                <a:latin typeface="Consolas"/>
              </a:rPr>
              <a:t>&lt;/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p</a:t>
            </a:r>
            <a:r>
              <a:rPr lang="en-US" sz="2000" dirty="0" smtClean="0">
                <a:solidFill>
                  <a:srgbClr val="800000"/>
                </a:solidFill>
                <a:latin typeface="Consolas"/>
              </a:rPr>
              <a:t>&gt;</a:t>
            </a:r>
          </a:p>
          <a:p>
            <a:r>
              <a:rPr lang="en-US" sz="2000" dirty="0">
                <a:solidFill>
                  <a:srgbClr val="800000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800000"/>
                </a:solidFill>
                <a:latin typeface="Consolas"/>
              </a:rPr>
              <a:t>   &lt;/</a:t>
            </a:r>
            <a:r>
              <a:rPr lang="en-US" sz="2000" dirty="0">
                <a:solidFill>
                  <a:srgbClr val="267F99"/>
                </a:solidFill>
                <a:latin typeface="Consolas"/>
              </a:rPr>
              <a:t>Container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&gt;</a:t>
            </a:r>
            <a:endParaRPr lang="en-US" sz="2000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22877" y="1891484"/>
            <a:ext cx="579667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20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795E26"/>
                </a:solidFill>
                <a:latin typeface="Consolas"/>
              </a:rPr>
              <a:t>Container</a:t>
            </a:r>
            <a:r>
              <a:rPr lang="en-US" sz="20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2000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sz="2000" dirty="0">
                <a:solidFill>
                  <a:srgbClr val="001080"/>
                </a:solidFill>
                <a:latin typeface="Consolas"/>
              </a:rPr>
              <a:t>props</a:t>
            </a:r>
            <a:r>
              <a:rPr lang="en-US" sz="2000" dirty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sz="2000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sz="2000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sz="2000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sz="2000" dirty="0">
                <a:solidFill>
                  <a:srgbClr val="3B3B3B"/>
                </a:solidFill>
                <a:latin typeface="Consolas"/>
              </a:rPr>
              <a:t> (</a:t>
            </a:r>
          </a:p>
          <a:p>
            <a:r>
              <a:rPr lang="en-US" sz="2000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&lt;</a:t>
            </a:r>
            <a:r>
              <a:rPr lang="en-US" sz="2000" dirty="0" smtClean="0">
                <a:solidFill>
                  <a:srgbClr val="800000"/>
                </a:solidFill>
                <a:latin typeface="Consolas"/>
              </a:rPr>
              <a:t>div&gt;</a:t>
            </a:r>
            <a:endParaRPr lang="en-US" sz="2000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sz="2000" dirty="0">
                <a:solidFill>
                  <a:srgbClr val="001080"/>
                </a:solidFill>
                <a:latin typeface="Consolas"/>
              </a:rPr>
              <a:t>props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.</a:t>
            </a:r>
            <a:r>
              <a:rPr lang="en-US" sz="2000" dirty="0">
                <a:solidFill>
                  <a:srgbClr val="001080"/>
                </a:solidFill>
                <a:latin typeface="Consolas"/>
              </a:rPr>
              <a:t>children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}</a:t>
            </a:r>
            <a:endParaRPr lang="en-US" sz="2000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&lt;/div&gt;</a:t>
            </a:r>
            <a:endParaRPr lang="en-US" sz="2000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/>
              </a:rPr>
              <a:t>  )</a:t>
            </a:r>
          </a:p>
          <a:p>
            <a:r>
              <a:rPr lang="en-US" sz="2000" dirty="0" smtClean="0">
                <a:solidFill>
                  <a:srgbClr val="3B3B3B"/>
                </a:solidFill>
                <a:latin typeface="Consolas"/>
              </a:rPr>
              <a:t>}</a:t>
            </a:r>
          </a:p>
          <a:p>
            <a:endParaRPr lang="en-US" sz="2000" dirty="0" smtClean="0">
              <a:solidFill>
                <a:srgbClr val="AF00DB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AF00DB"/>
                </a:solidFill>
                <a:latin typeface="Consolas"/>
              </a:rPr>
              <a:t>export</a:t>
            </a:r>
            <a:r>
              <a:rPr lang="en-US" sz="2000" dirty="0" smtClean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AF00DB"/>
                </a:solidFill>
                <a:latin typeface="Consolas"/>
              </a:rPr>
              <a:t>default</a:t>
            </a:r>
            <a:r>
              <a:rPr lang="en-US" sz="20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795E26"/>
                </a:solidFill>
                <a:latin typeface="Consolas"/>
              </a:rPr>
              <a:t>Container</a:t>
            </a:r>
            <a:endParaRPr lang="en-US" sz="2000" dirty="0">
              <a:solidFill>
                <a:srgbClr val="3B3B3B"/>
              </a:solidFill>
              <a:latin typeface="Consolas"/>
            </a:endParaRPr>
          </a:p>
          <a:p>
            <a:endParaRPr lang="en-US" sz="2000" dirty="0">
              <a:solidFill>
                <a:srgbClr val="3B3B3B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868363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Props : </a:t>
            </a:r>
            <a:r>
              <a:rPr lang="en-US" dirty="0"/>
              <a:t>Passing Components as Children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176463" y="1941464"/>
            <a:ext cx="514709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&lt;</a:t>
            </a:r>
            <a:r>
              <a:rPr lang="en-US" sz="2000" dirty="0">
                <a:solidFill>
                  <a:srgbClr val="267F99"/>
                </a:solidFill>
                <a:latin typeface="Consolas"/>
              </a:rPr>
              <a:t>Container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&gt;</a:t>
            </a:r>
            <a:endParaRPr lang="en-US" sz="2000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/>
              </a:rPr>
              <a:t>      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&lt;h1&gt;</a:t>
            </a:r>
            <a:r>
              <a:rPr lang="en-US" sz="2000" dirty="0">
                <a:solidFill>
                  <a:srgbClr val="3B3B3B"/>
                </a:solidFill>
                <a:latin typeface="Consolas"/>
              </a:rPr>
              <a:t>This is my container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&lt;/h1&gt;</a:t>
            </a:r>
            <a:endParaRPr lang="en-US" sz="2000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/>
              </a:rPr>
              <a:t>      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&lt;p&gt;</a:t>
            </a:r>
            <a:r>
              <a:rPr lang="en-US" sz="2000" dirty="0">
                <a:solidFill>
                  <a:srgbClr val="3B3B3B"/>
                </a:solidFill>
                <a:latin typeface="Consolas"/>
              </a:rPr>
              <a:t>Welcome to ABESIT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&lt;/p&gt;</a:t>
            </a:r>
            <a:endParaRPr lang="en-US" sz="2000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&lt;/</a:t>
            </a:r>
            <a:r>
              <a:rPr lang="en-US" sz="2000" dirty="0">
                <a:solidFill>
                  <a:srgbClr val="267F99"/>
                </a:solidFill>
                <a:latin typeface="Consolas"/>
              </a:rPr>
              <a:t>Container</a:t>
            </a:r>
            <a:r>
              <a:rPr lang="en-US" sz="2000" dirty="0" smtClean="0">
                <a:solidFill>
                  <a:srgbClr val="800000"/>
                </a:solidFill>
                <a:latin typeface="Consolas"/>
              </a:rPr>
              <a:t>&gt;</a:t>
            </a:r>
          </a:p>
          <a:p>
            <a:endParaRPr lang="en-US" sz="2000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&lt;</a:t>
            </a:r>
            <a:r>
              <a:rPr lang="en-US" sz="2000" dirty="0">
                <a:solidFill>
                  <a:srgbClr val="267F99"/>
                </a:solidFill>
                <a:latin typeface="Consolas"/>
              </a:rPr>
              <a:t>Container</a:t>
            </a:r>
            <a:r>
              <a:rPr lang="en-US" sz="2000" dirty="0" smtClean="0">
                <a:solidFill>
                  <a:srgbClr val="800000"/>
                </a:solidFill>
                <a:latin typeface="Consolas"/>
              </a:rPr>
              <a:t>&gt;</a:t>
            </a:r>
          </a:p>
          <a:p>
            <a:r>
              <a:rPr lang="en-US" sz="2000" dirty="0">
                <a:solidFill>
                  <a:srgbClr val="800000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800000"/>
                </a:solidFill>
                <a:latin typeface="Consolas"/>
              </a:rPr>
              <a:t>        &lt;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p&gt;</a:t>
            </a:r>
            <a:r>
              <a:rPr lang="en-US" sz="2000" dirty="0">
                <a:solidFill>
                  <a:srgbClr val="3B3B3B"/>
                </a:solidFill>
                <a:latin typeface="Consolas"/>
              </a:rPr>
              <a:t>this is a </a:t>
            </a:r>
            <a:r>
              <a:rPr lang="en-US" sz="2000" dirty="0" smtClean="0">
                <a:solidFill>
                  <a:srgbClr val="3B3B3B"/>
                </a:solidFill>
                <a:latin typeface="Consolas"/>
              </a:rPr>
              <a:t>new app</a:t>
            </a:r>
            <a:r>
              <a:rPr lang="en-US" sz="2000" dirty="0" smtClean="0">
                <a:solidFill>
                  <a:srgbClr val="800000"/>
                </a:solidFill>
                <a:latin typeface="Consolas"/>
              </a:rPr>
              <a:t>&lt;/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p</a:t>
            </a:r>
            <a:r>
              <a:rPr lang="en-US" sz="2000" dirty="0" smtClean="0">
                <a:solidFill>
                  <a:srgbClr val="800000"/>
                </a:solidFill>
                <a:latin typeface="Consolas"/>
              </a:rPr>
              <a:t>&gt;</a:t>
            </a:r>
          </a:p>
          <a:p>
            <a:r>
              <a:rPr lang="en-US" sz="2000" dirty="0">
                <a:solidFill>
                  <a:srgbClr val="800000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800000"/>
                </a:solidFill>
                <a:latin typeface="Consolas"/>
              </a:rPr>
              <a:t>   &lt;/</a:t>
            </a:r>
            <a:r>
              <a:rPr lang="en-US" sz="2000" dirty="0">
                <a:solidFill>
                  <a:srgbClr val="267F99"/>
                </a:solidFill>
                <a:latin typeface="Consolas"/>
              </a:rPr>
              <a:t>Container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&gt;</a:t>
            </a:r>
            <a:endParaRPr lang="en-US" sz="2000" b="0" dirty="0">
              <a:solidFill>
                <a:srgbClr val="3B3B3B"/>
              </a:solidFill>
              <a:effectLst/>
              <a:latin typeface="Consola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22877" y="1891484"/>
            <a:ext cx="579667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20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795E26"/>
                </a:solidFill>
                <a:latin typeface="Consolas"/>
              </a:rPr>
              <a:t>Container</a:t>
            </a:r>
            <a:r>
              <a:rPr lang="en-US" sz="20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20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{</a:t>
            </a:r>
            <a:r>
              <a:rPr lang="en-US" sz="2000" dirty="0" smtClean="0">
                <a:solidFill>
                  <a:srgbClr val="001080"/>
                </a:solidFill>
                <a:latin typeface="Consolas"/>
              </a:rPr>
              <a:t>children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sz="2000" dirty="0" smtClean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sz="2000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sz="2000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sz="2000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sz="2000" dirty="0">
                <a:solidFill>
                  <a:srgbClr val="3B3B3B"/>
                </a:solidFill>
                <a:latin typeface="Consolas"/>
              </a:rPr>
              <a:t> (</a:t>
            </a:r>
          </a:p>
          <a:p>
            <a:r>
              <a:rPr lang="en-US" sz="2000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&lt;</a:t>
            </a:r>
            <a:r>
              <a:rPr lang="en-US" sz="2000" dirty="0" smtClean="0">
                <a:solidFill>
                  <a:srgbClr val="800000"/>
                </a:solidFill>
                <a:latin typeface="Consolas"/>
              </a:rPr>
              <a:t>div&gt;</a:t>
            </a:r>
            <a:endParaRPr lang="en-US" sz="2000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/>
              </a:rPr>
              <a:t>           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{</a:t>
            </a:r>
            <a:r>
              <a:rPr lang="en-US" sz="2000" dirty="0" smtClean="0">
                <a:solidFill>
                  <a:srgbClr val="001080"/>
                </a:solidFill>
                <a:latin typeface="Consolas"/>
              </a:rPr>
              <a:t>children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}</a:t>
            </a:r>
            <a:endParaRPr lang="en-US" sz="2000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2000" dirty="0">
                <a:solidFill>
                  <a:srgbClr val="800000"/>
                </a:solidFill>
                <a:latin typeface="Consolas"/>
              </a:rPr>
              <a:t>&lt;/div&gt;</a:t>
            </a:r>
            <a:endParaRPr lang="en-US" sz="2000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dirty="0">
                <a:solidFill>
                  <a:srgbClr val="3B3B3B"/>
                </a:solidFill>
                <a:latin typeface="Consolas"/>
              </a:rPr>
              <a:t>  )</a:t>
            </a:r>
          </a:p>
          <a:p>
            <a:r>
              <a:rPr lang="en-US" sz="2000" dirty="0" smtClean="0">
                <a:solidFill>
                  <a:srgbClr val="3B3B3B"/>
                </a:solidFill>
                <a:latin typeface="Consolas"/>
              </a:rPr>
              <a:t>}</a:t>
            </a:r>
          </a:p>
          <a:p>
            <a:endParaRPr lang="en-US" sz="2000" dirty="0" smtClean="0">
              <a:solidFill>
                <a:srgbClr val="AF00DB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AF00DB"/>
                </a:solidFill>
                <a:latin typeface="Consolas"/>
              </a:rPr>
              <a:t>export</a:t>
            </a:r>
            <a:r>
              <a:rPr lang="en-US" sz="2000" dirty="0" smtClean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AF00DB"/>
                </a:solidFill>
                <a:latin typeface="Consolas"/>
              </a:rPr>
              <a:t>default</a:t>
            </a:r>
            <a:r>
              <a:rPr lang="en-US" sz="2000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795E26"/>
                </a:solidFill>
                <a:latin typeface="Consolas"/>
              </a:rPr>
              <a:t>Container</a:t>
            </a:r>
            <a:endParaRPr lang="en-US" sz="2000" dirty="0">
              <a:solidFill>
                <a:srgbClr val="3B3B3B"/>
              </a:solidFill>
              <a:latin typeface="Consolas"/>
            </a:endParaRPr>
          </a:p>
          <a:p>
            <a:endParaRPr lang="en-US" sz="2000" dirty="0">
              <a:solidFill>
                <a:srgbClr val="3B3B3B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78038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Events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354676" y="1330235"/>
            <a:ext cx="109838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React lets you add event handlers to your JSX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Event handlers are your own functions that will be triggered in response to interactions like clicking, hovering, focusing form inputs, and so 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684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Event Handler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673024" y="1712621"/>
            <a:ext cx="109838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 add an event handler, you will first define a function and then </a:t>
            </a:r>
            <a:r>
              <a:rPr lang="en-US" dirty="0">
                <a:hlinkClick r:id="rId2"/>
              </a:rPr>
              <a:t>pass it as a prop</a:t>
            </a:r>
            <a:r>
              <a:rPr lang="en-US" dirty="0"/>
              <a:t> to the appropriate JSX tag.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520931" y="3033421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You can make it show a message when a user clicks by following these three steps: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Declare a function called handleClick inside your Button component.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Implement the logic inside that function (use alert to show the message).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Add onClick={handleClick} to the &lt;button&gt; JSX.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843" y="2558807"/>
            <a:ext cx="3989742" cy="38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6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Managing State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66007" y="1468735"/>
            <a:ext cx="110725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Components often need to change what’s on the screen as a result of an interaction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In React, this kind of component-specific memory is called </a:t>
            </a:r>
            <a:r>
              <a:rPr lang="en-US" i="1" dirty="0"/>
              <a:t>state</a:t>
            </a:r>
            <a:r>
              <a:rPr lang="en-US" dirty="0"/>
              <a:t>.</a:t>
            </a:r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432261" y="2635103"/>
            <a:ext cx="734845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Two </a:t>
            </a:r>
            <a:r>
              <a:rPr lang="en-US" dirty="0"/>
              <a:t>things prevent that change from being </a:t>
            </a:r>
            <a:r>
              <a:rPr lang="en-US" dirty="0" smtClean="0"/>
              <a:t>visible using Local variable: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Local variables don’t persist between renders</a:t>
            </a:r>
            <a:r>
              <a:rPr lang="en-US" dirty="0"/>
              <a:t>.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Changes to local variables won’t trigger renders. 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77334" y="4812899"/>
            <a:ext cx="85966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 update a component with new data, two things need to happen: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Retain the data between renders.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Trigger React to render the component with new data (re-rendering).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8023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Managing State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32262" y="1529542"/>
            <a:ext cx="110725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State represents data that changes over time.</a:t>
            </a:r>
          </a:p>
          <a:p>
            <a:pPr marL="342900" indent="-342900">
              <a:buAutoNum type="arabicPeriod"/>
            </a:pPr>
            <a:r>
              <a:rPr lang="en-US" dirty="0" smtClean="0"/>
              <a:t>State is local and private to the component.</a:t>
            </a:r>
          </a:p>
          <a:p>
            <a:pPr marL="342900" indent="-342900">
              <a:buAutoNum type="arabicPeriod"/>
            </a:pPr>
            <a:r>
              <a:rPr lang="en-US" dirty="0" smtClean="0"/>
              <a:t>State changes cause the component to re-render.</a:t>
            </a:r>
          </a:p>
          <a:p>
            <a:pPr marL="342900" indent="-342900">
              <a:buAutoNum type="arabicPeriod"/>
            </a:pPr>
            <a:r>
              <a:rPr lang="en-US" dirty="0" smtClean="0"/>
              <a:t>For functional components , use the useState hook.</a:t>
            </a:r>
          </a:p>
          <a:p>
            <a:pPr marL="342900" indent="-342900">
              <a:buAutoNum type="arabicPeriod"/>
            </a:pPr>
            <a:r>
              <a:rPr lang="en-US" dirty="0" smtClean="0"/>
              <a:t>Hooks should only be used inside components</a:t>
            </a:r>
          </a:p>
          <a:p>
            <a:pPr marL="342900" indent="-342900">
              <a:buAutoNum type="arabicPeriod"/>
            </a:pPr>
            <a:endParaRPr lang="en-US" dirty="0" smtClean="0"/>
          </a:p>
          <a:p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677333" y="3742145"/>
            <a:ext cx="904855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useState Hook provides those two things: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 state variable to retain the data between renders.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 state setter function to update the variable and trigger React to render the component again.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601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Props </a:t>
            </a:r>
            <a:r>
              <a:rPr lang="en-US" dirty="0" smtClean="0"/>
              <a:t>vs State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32262" y="1529542"/>
            <a:ext cx="1107255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Props: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Passed into a component from its parent.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Read-only (immutable) within the receiving component.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Allow parent-to-child component communication.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Changes in props can also cause a re-render.</a:t>
            </a:r>
            <a:endParaRPr lang="en-IN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r>
              <a:rPr lang="en-US" b="1" dirty="0" smtClean="0"/>
              <a:t>State</a:t>
            </a:r>
            <a:r>
              <a:rPr lang="en-US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Local </a:t>
            </a:r>
            <a:r>
              <a:rPr lang="en-US" dirty="0"/>
              <a:t>and mutable data within a component.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Initialized </a:t>
            </a:r>
            <a:r>
              <a:rPr lang="en-US" dirty="0"/>
              <a:t>within the component.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Can </a:t>
            </a:r>
            <a:r>
              <a:rPr lang="en-US" dirty="0"/>
              <a:t>change over time.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Causes </a:t>
            </a:r>
            <a:r>
              <a:rPr lang="en-US" dirty="0"/>
              <a:t>re-render when updated.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Managed </a:t>
            </a:r>
            <a:r>
              <a:rPr lang="en-US" dirty="0"/>
              <a:t>using useState in functional components.</a:t>
            </a:r>
          </a:p>
          <a:p>
            <a:endParaRPr lang="en-US" b="1" dirty="0" smtClean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3157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Forms </a:t>
            </a:r>
            <a:r>
              <a:rPr lang="en-US" dirty="0"/>
              <a:t>in </a:t>
            </a:r>
            <a:r>
              <a:rPr lang="en-US" dirty="0" smtClean="0"/>
              <a:t>React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32262" y="1529542"/>
            <a:ext cx="110725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1. State Management: Each input's </a:t>
            </a:r>
            <a:r>
              <a:rPr lang="en-US" dirty="0" smtClean="0"/>
              <a:t>state is </a:t>
            </a:r>
            <a:r>
              <a:rPr lang="en-US" dirty="0"/>
              <a:t>stored in the component's state.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2. Handling Changes: Use onChange </a:t>
            </a:r>
            <a:r>
              <a:rPr lang="en-US" dirty="0" smtClean="0"/>
              <a:t>to detect </a:t>
            </a:r>
            <a:r>
              <a:rPr lang="en-US" dirty="0"/>
              <a:t>input changes.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3. Submission: Utilize onSubmit for </a:t>
            </a:r>
            <a:r>
              <a:rPr lang="en-US" dirty="0" smtClean="0"/>
              <a:t>form submissions </a:t>
            </a:r>
            <a:r>
              <a:rPr lang="en-US" dirty="0"/>
              <a:t>and prevent default </a:t>
            </a:r>
            <a:r>
              <a:rPr lang="en-US" dirty="0" smtClean="0"/>
              <a:t>with event.preventDefault</a:t>
            </a:r>
            <a:r>
              <a:rPr lang="en-US" dirty="0"/>
              <a:t>().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4. Validation: Implement </a:t>
            </a:r>
            <a:r>
              <a:rPr lang="en-US" dirty="0" smtClean="0"/>
              <a:t>custom validation </a:t>
            </a:r>
            <a:r>
              <a:rPr lang="en-US" dirty="0"/>
              <a:t>or use third-party libraries.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805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Hook: </a:t>
            </a:r>
            <a:r>
              <a:rPr lang="en-US" dirty="0"/>
              <a:t>Ref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32262" y="1529542"/>
            <a:ext cx="11072553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dirty="0"/>
              <a:t>1. useRef allows access to DOM elements </a:t>
            </a:r>
            <a:r>
              <a:rPr lang="en-US" dirty="0" smtClean="0"/>
              <a:t>and retains </a:t>
            </a:r>
            <a:r>
              <a:rPr lang="en-US" dirty="0"/>
              <a:t>mutable values without re-renders.</a:t>
            </a:r>
          </a:p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dirty="0"/>
              <a:t>2. Used with the ref attribute for direct </a:t>
            </a:r>
            <a:r>
              <a:rPr lang="en-US" dirty="0" smtClean="0"/>
              <a:t>DOM interactions</a:t>
            </a:r>
            <a:r>
              <a:rPr lang="en-US" dirty="0"/>
              <a:t>.</a:t>
            </a:r>
          </a:p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dirty="0"/>
              <a:t>3. Can hold previous state or prop values</a:t>
            </a:r>
            <a:r>
              <a:rPr lang="en-US" dirty="0" smtClean="0"/>
              <a:t>. </a:t>
            </a:r>
            <a:endParaRPr lang="en-US" dirty="0"/>
          </a:p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dirty="0"/>
              <a:t>4. Not limited to DOM references; can hold </a:t>
            </a:r>
            <a:r>
              <a:rPr lang="en-US" dirty="0" smtClean="0"/>
              <a:t>any value</a:t>
            </a:r>
            <a:r>
              <a:rPr lang="en-US" dirty="0"/>
              <a:t>.</a:t>
            </a:r>
          </a:p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dirty="0"/>
              <a:t>5. Refs can be passed as props </a:t>
            </a:r>
            <a:r>
              <a:rPr lang="en-US" dirty="0" smtClean="0"/>
              <a:t>also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1108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Hook: </a:t>
            </a:r>
            <a:r>
              <a:rPr lang="en-US" dirty="0"/>
              <a:t>Ref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32263" y="1529542"/>
            <a:ext cx="460376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 smtClean="0"/>
              <a:t>Purposes</a:t>
            </a:r>
            <a:r>
              <a:rPr lang="en-US" sz="2400" dirty="0"/>
              <a:t>:</a:t>
            </a:r>
          </a:p>
          <a:p>
            <a:pPr marL="285750" indent="-285750" fontAlgn="base">
              <a:spcBef>
                <a:spcPts val="18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en-US" b="1" dirty="0"/>
              <a:t>Accessing DOM elements directly</a:t>
            </a:r>
            <a:r>
              <a:rPr lang="en-US" dirty="0"/>
              <a:t> (e.g., focusing an input field)</a:t>
            </a:r>
          </a:p>
          <a:p>
            <a:pPr marL="285750" indent="-285750" fontAlgn="base">
              <a:spcBef>
                <a:spcPts val="18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en-US" b="1" dirty="0"/>
              <a:t>Keeping track of values without triggering a re-render</a:t>
            </a:r>
            <a:r>
              <a:rPr lang="en-US" dirty="0"/>
              <a:t> (e.g., storing a previous value or counting renders)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8815" y="1166843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useRef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"react"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>
                <a:solidFill>
                  <a:srgbClr val="0000FF"/>
                </a:solidFill>
                <a:latin typeface="Consolas"/>
              </a:rPr>
              <a:t>function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Example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() {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70C1"/>
                </a:solidFill>
                <a:latin typeface="Consolas"/>
              </a:rPr>
              <a:t>inputRef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useRef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null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(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&lt;div&gt;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&lt;input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E50000"/>
                </a:solidFill>
                <a:latin typeface="Consolas"/>
              </a:rPr>
              <a:t>ref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inputRef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E50000"/>
                </a:solidFill>
                <a:latin typeface="Consolas"/>
              </a:rPr>
              <a:t>type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"text"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E50000"/>
                </a:solidFill>
                <a:latin typeface="Consolas"/>
              </a:rPr>
              <a:t>placeholder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A31515"/>
                </a:solidFill>
                <a:latin typeface="Consolas"/>
              </a:rPr>
              <a:t>"Type here..."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/&gt;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&lt;button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E50000"/>
                </a:solidFill>
                <a:latin typeface="Consolas"/>
              </a:rPr>
              <a:t>onClick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inputRef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.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current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.</a:t>
            </a:r>
            <a:r>
              <a:rPr lang="en-US" dirty="0">
                <a:solidFill>
                  <a:srgbClr val="795E26"/>
                </a:solidFill>
                <a:latin typeface="Consolas"/>
              </a:rPr>
              <a:t>focus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&gt;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Focus Input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&lt;/button&gt;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&lt;/div&gt;</a:t>
            </a:r>
            <a:endParaRPr lang="en-US" dirty="0">
              <a:solidFill>
                <a:srgbClr val="3B3B3B"/>
              </a:solidFill>
              <a:latin typeface="Consolas"/>
            </a:endParaRP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  );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>}</a:t>
            </a:r>
          </a:p>
          <a:p>
            <a:r>
              <a:rPr lang="en-US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dirty="0">
                <a:solidFill>
                  <a:srgbClr val="3B3B3B"/>
                </a:solidFill>
                <a:latin typeface="Consolas"/>
              </a:rPr>
            </a:br>
            <a:r>
              <a:rPr lang="en-US" dirty="0">
                <a:solidFill>
                  <a:srgbClr val="AF00DB"/>
                </a:solidFill>
                <a:latin typeface="Consolas"/>
              </a:rPr>
              <a:t>export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AF00DB"/>
                </a:solidFill>
                <a:latin typeface="Consolas"/>
              </a:rPr>
              <a:t>default</a:t>
            </a:r>
            <a:r>
              <a:rPr lang="en-US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/>
              </a:rPr>
              <a:t>Example</a:t>
            </a:r>
            <a:r>
              <a:rPr lang="en-US" dirty="0" smtClean="0">
                <a:solidFill>
                  <a:srgbClr val="3B3B3B"/>
                </a:solidFill>
                <a:latin typeface="Consolas"/>
              </a:rPr>
              <a:t>;</a:t>
            </a:r>
            <a:endParaRPr lang="en-US" b="0" dirty="0">
              <a:solidFill>
                <a:srgbClr val="3B3B3B"/>
              </a:solidFill>
              <a:effectLst/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488089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 vs State</a:t>
            </a:r>
            <a:endParaRPr lang="en-IN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490827"/>
              </p:ext>
            </p:extLst>
          </p:nvPr>
        </p:nvGraphicFramePr>
        <p:xfrm>
          <a:off x="815727" y="1752071"/>
          <a:ext cx="8928774" cy="3297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88285"/>
                <a:gridCol w="2374710"/>
                <a:gridCol w="2565779"/>
              </a:tblGrid>
              <a:tr h="380492">
                <a:tc>
                  <a:txBody>
                    <a:bodyPr/>
                    <a:lstStyle/>
                    <a:p>
                      <a:pPr fontAlgn="base"/>
                      <a:r>
                        <a:rPr lang="en-US" dirty="0">
                          <a:effectLst/>
                        </a:rPr>
                        <a:t>Feature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dirty="0">
                          <a:effectLst/>
                        </a:rPr>
                        <a:t>useState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dirty="0">
                          <a:effectLst/>
                        </a:rPr>
                        <a:t>useRef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</a:tr>
              <a:tr h="729277">
                <a:tc>
                  <a:txBody>
                    <a:bodyPr/>
                    <a:lstStyle/>
                    <a:p>
                      <a:pPr fontAlgn="base" latinLnBrk="1"/>
                      <a:r>
                        <a:rPr lang="en-US" dirty="0">
                          <a:effectLst/>
                        </a:rPr>
                        <a:t>Re-renders component?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2875" marT="76200" marB="76200" anchor="ctr"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US" dirty="0">
                          <a:effectLst/>
                        </a:rPr>
                        <a:t>✅ Yes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2875" marT="76200" marB="76200" anchor="ctr"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US" dirty="0">
                          <a:effectLst/>
                        </a:rPr>
                        <a:t>❌ No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2875" marT="76200" marB="76200" anchor="ctr"/>
                </a:tc>
              </a:tr>
              <a:tr h="729277">
                <a:tc>
                  <a:txBody>
                    <a:bodyPr/>
                    <a:lstStyle/>
                    <a:p>
                      <a:pPr fontAlgn="base" latinLnBrk="1"/>
                      <a:r>
                        <a:rPr lang="en-US" dirty="0">
                          <a:effectLst/>
                        </a:rPr>
                        <a:t>Stores values between renders?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2875" marT="76200" marB="76200" anchor="ctr"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US" dirty="0">
                          <a:effectLst/>
                        </a:rPr>
                        <a:t>✅ Yes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2875" marT="76200" marB="76200" anchor="ctr"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US" dirty="0">
                          <a:effectLst/>
                        </a:rPr>
                        <a:t>✅ Yes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2875" marT="76200" marB="76200" anchor="ctr"/>
                </a:tc>
              </a:tr>
              <a:tr h="729277">
                <a:tc>
                  <a:txBody>
                    <a:bodyPr/>
                    <a:lstStyle/>
                    <a:p>
                      <a:pPr fontAlgn="base" latinLnBrk="1"/>
                      <a:r>
                        <a:rPr lang="en-US" dirty="0">
                          <a:effectLst/>
                        </a:rPr>
                        <a:t>Used for updating UI?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2875" marT="76200" marB="76200" anchor="ctr"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US" dirty="0">
                          <a:effectLst/>
                        </a:rPr>
                        <a:t>✅ Yes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2875" marT="76200" marB="76200" anchor="ctr"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US" dirty="0">
                          <a:effectLst/>
                        </a:rPr>
                        <a:t>❌ No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2875" marT="76200" marB="76200" anchor="ctr"/>
                </a:tc>
              </a:tr>
              <a:tr h="729277">
                <a:tc>
                  <a:txBody>
                    <a:bodyPr/>
                    <a:lstStyle/>
                    <a:p>
                      <a:pPr fontAlgn="base" latinLnBrk="1"/>
                      <a:r>
                        <a:rPr lang="en-US" dirty="0">
                          <a:effectLst/>
                        </a:rPr>
                        <a:t>Used for accessing DOM elements?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2875" marT="76200" marB="76200" anchor="ctr"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US" dirty="0">
                          <a:effectLst/>
                        </a:rPr>
                        <a:t>❌ No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2875" marT="76200" marB="76200" anchor="ctr"/>
                </a:tc>
                <a:tc>
                  <a:txBody>
                    <a:bodyPr/>
                    <a:lstStyle/>
                    <a:p>
                      <a:pPr fontAlgn="base" latinLnBrk="1"/>
                      <a:r>
                        <a:rPr lang="en-US" dirty="0">
                          <a:effectLst/>
                        </a:rPr>
                        <a:t>✅ Yes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42875" marT="76200" marB="76200" anchor="ctr"/>
                </a:tc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71613" y="25161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100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Side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262" y="1529542"/>
            <a:ext cx="11072553" cy="380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dirty="0"/>
              <a:t>In React, a </a:t>
            </a:r>
            <a:r>
              <a:rPr lang="en-US" b="1" dirty="0"/>
              <a:t>side effect</a:t>
            </a:r>
            <a:r>
              <a:rPr lang="en-US" dirty="0"/>
              <a:t> is anything that happens </a:t>
            </a:r>
            <a:r>
              <a:rPr lang="en-US" b="1" dirty="0"/>
              <a:t>outside the main component logic</a:t>
            </a:r>
            <a:r>
              <a:rPr lang="en-US" dirty="0" smtClean="0"/>
              <a:t>.</a:t>
            </a:r>
          </a:p>
          <a:p>
            <a:pPr fontAlgn="base"/>
            <a:endParaRPr lang="en-US" dirty="0"/>
          </a:p>
          <a:p>
            <a:pPr fontAlgn="base">
              <a:spcBef>
                <a:spcPts val="1800"/>
              </a:spcBef>
              <a:spcAft>
                <a:spcPts val="1200"/>
              </a:spcAft>
            </a:pPr>
            <a:r>
              <a:rPr lang="en-US" dirty="0"/>
              <a:t>Here are some examples of side effects</a:t>
            </a:r>
            <a:r>
              <a:rPr lang="en-US" dirty="0" smtClean="0"/>
              <a:t>:</a:t>
            </a:r>
          </a:p>
          <a:p>
            <a:pPr marL="742950" lvl="1" indent="-285750" fontAlgn="base">
              <a:spcBef>
                <a:spcPts val="18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en-US" dirty="0" smtClean="0"/>
              <a:t>Fetching data from an API</a:t>
            </a:r>
          </a:p>
          <a:p>
            <a:pPr marL="742950" lvl="1" indent="-285750" fontAlgn="base">
              <a:spcBef>
                <a:spcPts val="18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en-US" dirty="0" smtClean="0"/>
              <a:t>Updating </a:t>
            </a:r>
            <a:r>
              <a:rPr lang="en-US" dirty="0"/>
              <a:t>the document </a:t>
            </a:r>
            <a:r>
              <a:rPr lang="en-US" dirty="0" smtClean="0"/>
              <a:t>title</a:t>
            </a:r>
          </a:p>
          <a:p>
            <a:pPr marL="742950" lvl="1" indent="-285750" fontAlgn="base">
              <a:spcBef>
                <a:spcPts val="18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en-US" dirty="0" smtClean="0"/>
              <a:t>Setting up event listeners (like keyboard or mouse events)</a:t>
            </a:r>
          </a:p>
          <a:p>
            <a:pPr marL="742950" lvl="1" indent="-285750" fontAlgn="base">
              <a:spcBef>
                <a:spcPts val="180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en-US" dirty="0" smtClean="0"/>
              <a:t>Using</a:t>
            </a:r>
            <a:r>
              <a:rPr lang="en-US" dirty="0"/>
              <a:t> setTimeout or setInterval</a:t>
            </a:r>
          </a:p>
        </p:txBody>
      </p:sp>
    </p:spTree>
    <p:extLst>
      <p:ext uri="{BB962C8B-B14F-4D97-AF65-F5344CB8AC3E}">
        <p14:creationId xmlns:p14="http://schemas.microsoft.com/office/powerpoint/2010/main" val="363829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dirty="0"/>
              <a:t>Hook</a:t>
            </a:r>
            <a:r>
              <a:rPr lang="en-US" dirty="0" smtClean="0"/>
              <a:t>: </a:t>
            </a:r>
            <a:r>
              <a:rPr lang="en-US" b="1" dirty="0"/>
              <a:t>useEffect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32262" y="1529542"/>
            <a:ext cx="11072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dirty="0"/>
              <a:t>React provides a special hook called useEffect to </a:t>
            </a:r>
            <a:r>
              <a:rPr lang="en-US" b="1" dirty="0"/>
              <a:t>handle side effects</a:t>
            </a:r>
            <a:r>
              <a:rPr lang="en-US" dirty="0"/>
              <a:t> inside functional components.</a:t>
            </a:r>
          </a:p>
        </p:txBody>
      </p:sp>
      <p:sp>
        <p:nvSpPr>
          <p:cNvPr id="3" name="Rectangle 2"/>
          <p:cNvSpPr/>
          <p:nvPr/>
        </p:nvSpPr>
        <p:spPr>
          <a:xfrm>
            <a:off x="2338316" y="1940811"/>
            <a:ext cx="6096000" cy="49244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sz="1600" b="1" dirty="0">
                <a:solidFill>
                  <a:srgbClr val="001080"/>
                </a:solidFill>
                <a:latin typeface="Consolas"/>
              </a:rPr>
              <a:t>useState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600" b="1" dirty="0">
                <a:solidFill>
                  <a:srgbClr val="001080"/>
                </a:solidFill>
                <a:latin typeface="Consolas"/>
              </a:rPr>
              <a:t>useEffect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sz="1600" b="1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A31515"/>
                </a:solidFill>
                <a:latin typeface="Consolas"/>
              </a:rPr>
              <a:t>"react"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sz="1600" b="1" dirty="0">
                <a:solidFill>
                  <a:srgbClr val="3B3B3B"/>
                </a:solidFill>
                <a:latin typeface="Consolas"/>
              </a:rPr>
            </a:br>
            <a:r>
              <a:rPr lang="en-US" sz="1600" b="1" dirty="0">
                <a:solidFill>
                  <a:srgbClr val="0000FF"/>
                </a:solidFill>
                <a:latin typeface="Consolas"/>
              </a:rPr>
              <a:t>function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795E26"/>
                </a:solidFill>
                <a:latin typeface="Consolas"/>
              </a:rPr>
              <a:t>Example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() {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[</a:t>
            </a:r>
            <a:r>
              <a:rPr lang="en-US" sz="1600" b="1" dirty="0">
                <a:solidFill>
                  <a:srgbClr val="0070C1"/>
                </a:solidFill>
                <a:latin typeface="Consolas"/>
              </a:rPr>
              <a:t>count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600" b="1" dirty="0">
                <a:solidFill>
                  <a:srgbClr val="795E26"/>
                </a:solidFill>
                <a:latin typeface="Consolas"/>
              </a:rPr>
              <a:t>setCount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] 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795E26"/>
                </a:solidFill>
                <a:latin typeface="Consolas"/>
              </a:rPr>
              <a:t>useState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600" b="1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sz="1600" b="1" dirty="0">
                <a:solidFill>
                  <a:srgbClr val="3B3B3B"/>
                </a:solidFill>
                <a:latin typeface="Consolas"/>
              </a:rPr>
            </a:br>
            <a:r>
              <a:rPr lang="en-US" sz="1600" b="1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sz="1600" b="1" dirty="0">
                <a:solidFill>
                  <a:srgbClr val="795E26"/>
                </a:solidFill>
                <a:latin typeface="Consolas"/>
              </a:rPr>
              <a:t>useEffect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(() 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600" b="1" dirty="0">
                <a:solidFill>
                  <a:srgbClr val="001080"/>
                </a:solidFill>
                <a:latin typeface="Consolas"/>
              </a:rPr>
              <a:t>document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.</a:t>
            </a:r>
            <a:r>
              <a:rPr lang="en-US" sz="1600" b="1" dirty="0">
                <a:solidFill>
                  <a:srgbClr val="001080"/>
                </a:solidFill>
                <a:latin typeface="Consolas"/>
              </a:rPr>
              <a:t>title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A31515"/>
                </a:solidFill>
                <a:latin typeface="Consolas"/>
              </a:rPr>
              <a:t>`Clicked 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${</a:t>
            </a:r>
            <a:r>
              <a:rPr lang="en-US" sz="1600" b="1" dirty="0">
                <a:solidFill>
                  <a:srgbClr val="0070C1"/>
                </a:solidFill>
                <a:latin typeface="Consolas"/>
              </a:rPr>
              <a:t>count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sz="1600" b="1" dirty="0">
                <a:solidFill>
                  <a:srgbClr val="A31515"/>
                </a:solidFill>
                <a:latin typeface="Consolas"/>
              </a:rPr>
              <a:t> times`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});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sz="1600" b="1" dirty="0">
                <a:solidFill>
                  <a:srgbClr val="3B3B3B"/>
                </a:solidFill>
                <a:latin typeface="Consolas"/>
              </a:rPr>
            </a:br>
            <a:r>
              <a:rPr lang="en-US" sz="1600" b="1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sz="1600" b="1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(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600" b="1" dirty="0">
                <a:solidFill>
                  <a:srgbClr val="800000"/>
                </a:solidFill>
                <a:latin typeface="Consolas"/>
              </a:rPr>
              <a:t>&lt;div&gt;</a:t>
            </a:r>
            <a:endParaRPr lang="en-US" sz="1600" b="1" dirty="0">
              <a:solidFill>
                <a:srgbClr val="3B3B3B"/>
              </a:solidFill>
              <a:latin typeface="Consolas"/>
            </a:endParaRP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    </a:t>
            </a:r>
            <a:r>
              <a:rPr lang="en-US" sz="1600" b="1" dirty="0">
                <a:solidFill>
                  <a:srgbClr val="800000"/>
                </a:solidFill>
                <a:latin typeface="Consolas"/>
              </a:rPr>
              <a:t>&lt;p&gt;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You clicked 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sz="1600" b="1" dirty="0">
                <a:solidFill>
                  <a:srgbClr val="0070C1"/>
                </a:solidFill>
                <a:latin typeface="Consolas"/>
              </a:rPr>
              <a:t>count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times</a:t>
            </a:r>
            <a:r>
              <a:rPr lang="en-US" sz="1600" b="1" dirty="0">
                <a:solidFill>
                  <a:srgbClr val="800000"/>
                </a:solidFill>
                <a:latin typeface="Consolas"/>
              </a:rPr>
              <a:t>&lt;/p&gt;</a:t>
            </a:r>
            <a:endParaRPr lang="en-US" sz="1600" b="1" dirty="0">
              <a:solidFill>
                <a:srgbClr val="3B3B3B"/>
              </a:solidFill>
              <a:latin typeface="Consolas"/>
            </a:endParaRP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    </a:t>
            </a:r>
            <a:r>
              <a:rPr lang="en-US" sz="1600" b="1" dirty="0">
                <a:solidFill>
                  <a:srgbClr val="800000"/>
                </a:solidFill>
                <a:latin typeface="Consolas"/>
              </a:rPr>
              <a:t>&lt;button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E50000"/>
                </a:solidFill>
                <a:latin typeface="Consolas"/>
              </a:rPr>
              <a:t>onClick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() 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795E26"/>
                </a:solidFill>
                <a:latin typeface="Consolas"/>
              </a:rPr>
              <a:t>setCount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b="1" dirty="0">
                <a:solidFill>
                  <a:srgbClr val="0070C1"/>
                </a:solidFill>
                <a:latin typeface="Consolas"/>
              </a:rPr>
              <a:t>count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US" sz="1600" b="1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sz="1600" b="1" dirty="0">
                <a:solidFill>
                  <a:srgbClr val="800000"/>
                </a:solidFill>
                <a:latin typeface="Consolas"/>
              </a:rPr>
              <a:t>&gt;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Click Me</a:t>
            </a:r>
            <a:r>
              <a:rPr lang="en-US" sz="1600" b="1" dirty="0">
                <a:solidFill>
                  <a:srgbClr val="800000"/>
                </a:solidFill>
                <a:latin typeface="Consolas"/>
              </a:rPr>
              <a:t>&lt;/button&gt;</a:t>
            </a:r>
            <a:endParaRPr lang="en-US" sz="1600" b="1" dirty="0">
              <a:solidFill>
                <a:srgbClr val="3B3B3B"/>
              </a:solidFill>
              <a:latin typeface="Consolas"/>
            </a:endParaRP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600" b="1" dirty="0">
                <a:solidFill>
                  <a:srgbClr val="800000"/>
                </a:solidFill>
                <a:latin typeface="Consolas"/>
              </a:rPr>
              <a:t>&lt;/div&gt;</a:t>
            </a:r>
            <a:endParaRPr lang="en-US" sz="1600" b="1" dirty="0">
              <a:solidFill>
                <a:srgbClr val="3B3B3B"/>
              </a:solidFill>
              <a:latin typeface="Consolas"/>
            </a:endParaRP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);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}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sz="1600" b="1" dirty="0">
                <a:solidFill>
                  <a:srgbClr val="3B3B3B"/>
                </a:solidFill>
                <a:latin typeface="Consolas"/>
              </a:rPr>
            </a:br>
            <a:r>
              <a:rPr lang="en-US" sz="1600" b="1" dirty="0">
                <a:solidFill>
                  <a:srgbClr val="AF00DB"/>
                </a:solidFill>
                <a:latin typeface="Consolas"/>
              </a:rPr>
              <a:t>export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AF00DB"/>
                </a:solidFill>
                <a:latin typeface="Consolas"/>
              </a:rPr>
              <a:t>default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795E26"/>
                </a:solidFill>
                <a:latin typeface="Consolas"/>
              </a:rPr>
              <a:t>Example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;</a:t>
            </a:r>
            <a:endParaRPr lang="en-US" sz="1600" b="1" dirty="0">
              <a:solidFill>
                <a:srgbClr val="3B3B3B"/>
              </a:solidFill>
              <a:effectLst/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82031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dirty="0"/>
              <a:t>React </a:t>
            </a:r>
            <a:r>
              <a:rPr lang="en-US" dirty="0" smtClean="0"/>
              <a:t>Context: </a:t>
            </a:r>
            <a:r>
              <a:rPr lang="en-US" b="1" dirty="0"/>
              <a:t>Context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262" y="1529542"/>
            <a:ext cx="11072553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1. Prop Drilling: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Context API addresses prop drilling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component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composition is an alternative.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2. Folder Setup: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Use a store folder for context files.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3. Initialization: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Use React.createContext with initial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 and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export it.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4. Provider: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Implement with contextName.Provider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components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5. Access Value: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Use the useContext hook.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6. Dynamic Data: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Combine context value with state.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7. Export Functions: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Context can also export functions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actions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8. Logic Separation: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This helps keep the UI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business logic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separate from each other.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556" y="5045620"/>
            <a:ext cx="4415122" cy="1637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7708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dirty="0"/>
              <a:t>React </a:t>
            </a:r>
            <a:r>
              <a:rPr lang="en-US" dirty="0" smtClean="0"/>
              <a:t>Context: </a:t>
            </a:r>
            <a:r>
              <a:rPr lang="en-US" b="1" dirty="0"/>
              <a:t>Context API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102" y="1385816"/>
            <a:ext cx="8856558" cy="4372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4191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8957985" cy="919942"/>
          </a:xfrm>
        </p:spPr>
        <p:txBody>
          <a:bodyPr/>
          <a:lstStyle/>
          <a:p>
            <a:pPr fontAlgn="base"/>
            <a:r>
              <a:rPr lang="en-US" dirty="0"/>
              <a:t>Managing Complex State with </a:t>
            </a:r>
            <a:r>
              <a:rPr lang="en-US" b="1" dirty="0" smtClean="0"/>
              <a:t>useReducer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32262" y="1529542"/>
            <a:ext cx="11072553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1. useReducer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a hook in React that offers more control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over state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operations compared to useState, especially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complex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state logic.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2. Components: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It involves two main components: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• Reducer: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 pure function that takes the current state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an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action and returns a new state.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• Action: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 object describing what happened,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typically having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 type property.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3. Initialization: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It's invoked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 const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[state, dispatch] = useReducer(reducer, initialState).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4. Dispatch: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Actions are dispatched using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dispatch function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which invokes the reducer with the current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 and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given action.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5. Use Cases: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Particularly useful for managing state 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large components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or when the next state depends 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previous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one.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6. Predictable State Management: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Due to its strict structure,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leads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to more predictable and maintainable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 management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531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8957985" cy="919942"/>
          </a:xfrm>
        </p:spPr>
        <p:txBody>
          <a:bodyPr/>
          <a:lstStyle/>
          <a:p>
            <a:pPr fontAlgn="base"/>
            <a:r>
              <a:rPr lang="en-US" b="1" dirty="0"/>
              <a:t>Data </a:t>
            </a:r>
            <a:r>
              <a:rPr lang="en-US" b="1" dirty="0" smtClean="0"/>
              <a:t>fetching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32262" y="1529542"/>
            <a:ext cx="11072553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1. fetch: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Modern JavaScript API for network requests.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2. Promise-Based: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Returns a Promise with a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Response object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3. Usage: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Default is GET. For POST use method: 'POST'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4. Response: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Use .then() and response.json() for JSON data.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5. Errors: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Doesn't reject on HTTP errors. Check response.ok.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6. Headers: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Managed using the Headers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API.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2985" y="4229938"/>
            <a:ext cx="4337500" cy="2628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05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8957985" cy="919942"/>
          </a:xfrm>
        </p:spPr>
        <p:txBody>
          <a:bodyPr/>
          <a:lstStyle/>
          <a:p>
            <a:pPr fontAlgn="base"/>
            <a:r>
              <a:rPr lang="en-US" dirty="0"/>
              <a:t>Memoization</a:t>
            </a:r>
            <a:r>
              <a:rPr lang="en-US" dirty="0" smtClean="0"/>
              <a:t>: </a:t>
            </a:r>
            <a:r>
              <a:rPr lang="en-US" b="1" dirty="0"/>
              <a:t>useCallback</a:t>
            </a:r>
            <a:r>
              <a:rPr lang="en-US" dirty="0"/>
              <a:t> Hook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32262" y="1529542"/>
            <a:ext cx="11072553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1. Memoization: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Preserves function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across renders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prevent unnecessary re-renders.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2. Optimization: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Enhances performance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components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with frequent updates.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3. Dependency Array: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Recreates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function only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when specific dependencies change.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4. Event Handlers: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Used to keep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consistent function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references for child components.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5. With useEffect: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Prevents infinite loops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by maintaining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function references.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626" y="4237976"/>
            <a:ext cx="4815669" cy="26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5818496" y="3902965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20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2000" b="1" dirty="0">
                <a:solidFill>
                  <a:srgbClr val="0070C1"/>
                </a:solidFill>
                <a:latin typeface="Consolas"/>
              </a:rPr>
              <a:t>memoizedCallback</a:t>
            </a:r>
            <a:r>
              <a:rPr lang="en-US" sz="20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20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2000" b="1" dirty="0">
                <a:solidFill>
                  <a:srgbClr val="795E26"/>
                </a:solidFill>
                <a:latin typeface="Consolas"/>
              </a:rPr>
              <a:t>useCallback</a:t>
            </a:r>
            <a:r>
              <a:rPr lang="en-US" sz="2000" b="1" dirty="0">
                <a:solidFill>
                  <a:srgbClr val="3B3B3B"/>
                </a:solidFill>
                <a:latin typeface="Consolas"/>
              </a:rPr>
              <a:t>(</a:t>
            </a:r>
          </a:p>
          <a:p>
            <a:r>
              <a:rPr lang="en-US" sz="2000" b="1" dirty="0">
                <a:solidFill>
                  <a:srgbClr val="3B3B3B"/>
                </a:solidFill>
                <a:latin typeface="Consolas"/>
              </a:rPr>
              <a:t>() </a:t>
            </a:r>
            <a:r>
              <a:rPr lang="en-US" sz="2000" b="1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sz="2000" b="1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sz="2000" b="1" dirty="0" smtClean="0">
                <a:solidFill>
                  <a:srgbClr val="795E26"/>
                </a:solidFill>
                <a:latin typeface="Consolas"/>
              </a:rPr>
              <a:t>  </a:t>
            </a:r>
            <a:r>
              <a:rPr lang="en-US" sz="2000" b="1" dirty="0" err="1" smtClean="0">
                <a:solidFill>
                  <a:srgbClr val="795E26"/>
                </a:solidFill>
                <a:latin typeface="Consolas"/>
              </a:rPr>
              <a:t>functionToBeMemoized</a:t>
            </a:r>
            <a:r>
              <a:rPr lang="en-US" sz="2000" b="1" dirty="0" smtClean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2000" b="1" dirty="0" err="1" smtClean="0">
                <a:solidFill>
                  <a:srgbClr val="001080"/>
                </a:solidFill>
                <a:latin typeface="Consolas"/>
              </a:rPr>
              <a:t>arg</a:t>
            </a:r>
            <a:r>
              <a:rPr lang="en-US" sz="2000" b="1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sz="2000" b="1" dirty="0" smtClean="0">
                <a:solidFill>
                  <a:srgbClr val="3B3B3B"/>
                </a:solidFill>
                <a:latin typeface="Consolas"/>
              </a:rPr>
              <a:t> },</a:t>
            </a:r>
            <a:endParaRPr lang="en-US" sz="2000" b="1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b="1" dirty="0">
                <a:solidFill>
                  <a:srgbClr val="3B3B3B"/>
                </a:solidFill>
                <a:latin typeface="Consolas"/>
              </a:rPr>
              <a:t>[</a:t>
            </a:r>
            <a:r>
              <a:rPr lang="en-US" sz="2000" b="1" dirty="0">
                <a:solidFill>
                  <a:srgbClr val="001080"/>
                </a:solidFill>
                <a:latin typeface="Consolas"/>
              </a:rPr>
              <a:t>arg</a:t>
            </a:r>
            <a:r>
              <a:rPr lang="en-US" sz="2000" b="1" dirty="0">
                <a:solidFill>
                  <a:srgbClr val="3B3B3B"/>
                </a:solidFill>
                <a:latin typeface="Consolas"/>
              </a:rPr>
              <a:t>],</a:t>
            </a:r>
          </a:p>
          <a:p>
            <a:r>
              <a:rPr lang="en-US" sz="2000" b="1" dirty="0">
                <a:solidFill>
                  <a:srgbClr val="3B3B3B"/>
                </a:solidFill>
                <a:latin typeface="Consolas"/>
              </a:rPr>
              <a:t>);</a:t>
            </a:r>
            <a:endParaRPr lang="en-US" sz="2000" b="1" dirty="0">
              <a:solidFill>
                <a:srgbClr val="3B3B3B"/>
              </a:solidFill>
              <a:effectLst/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811301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8957985" cy="919942"/>
          </a:xfrm>
        </p:spPr>
        <p:txBody>
          <a:bodyPr/>
          <a:lstStyle/>
          <a:p>
            <a:pPr fontAlgn="base"/>
            <a:r>
              <a:rPr lang="en-US" dirty="0"/>
              <a:t>Memoization</a:t>
            </a:r>
            <a:r>
              <a:rPr lang="en-US" dirty="0" smtClean="0"/>
              <a:t>: </a:t>
            </a:r>
            <a:r>
              <a:rPr lang="en-US" b="1" dirty="0" err="1"/>
              <a:t>useMemo</a:t>
            </a:r>
            <a:r>
              <a:rPr lang="en-US" dirty="0"/>
              <a:t> Hook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32262" y="1529542"/>
            <a:ext cx="11072553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1. Memoization: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useMemo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caches the result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expensive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calculations to enhance performance.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2. Re-computation: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Only re-computes the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memoized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value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when specific dependencies change.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3. Optimization: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Helps prevent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unnecessary recalculations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improving component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rendering efficiency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4. Dependency Array: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Uses an array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dependencies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determine when to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recompute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cached value.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5. Comparison with useCallback: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While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useCallback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memoizes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functions,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useMemo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memoizes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values or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results of functions.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6. Best Use: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Ideal for intensive computations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or operations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that shouldn't run on every render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766" y="4872461"/>
            <a:ext cx="6696075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455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8957985" cy="919942"/>
          </a:xfrm>
        </p:spPr>
        <p:txBody>
          <a:bodyPr/>
          <a:lstStyle/>
          <a:p>
            <a:r>
              <a:rPr lang="en-US" b="1" dirty="0" err="1"/>
              <a:t>useMemo</a:t>
            </a:r>
            <a:r>
              <a:rPr lang="en-US" b="1" dirty="0"/>
              <a:t> </a:t>
            </a:r>
            <a:r>
              <a:rPr lang="en-US" dirty="0"/>
              <a:t>vs</a:t>
            </a:r>
            <a:r>
              <a:rPr lang="en-US" b="1" dirty="0"/>
              <a:t> useCallback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096" y="1361079"/>
            <a:ext cx="7885563" cy="2968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4761" y="4527912"/>
            <a:ext cx="4021398" cy="233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1478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8957985" cy="919942"/>
          </a:xfrm>
        </p:spPr>
        <p:txBody>
          <a:bodyPr>
            <a:normAutofit/>
          </a:bodyPr>
          <a:lstStyle/>
          <a:p>
            <a:r>
              <a:rPr lang="en-US" b="1" dirty="0" smtClean="0"/>
              <a:t>Custom</a:t>
            </a:r>
            <a:r>
              <a:rPr lang="en-US" dirty="0" smtClean="0"/>
              <a:t> </a:t>
            </a:r>
            <a:r>
              <a:rPr lang="en-US" dirty="0"/>
              <a:t>Hooks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32262" y="1529542"/>
            <a:ext cx="1107255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1. Reusable Logic: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Custom hooks allow you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extract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reuse component logic across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multiple components.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. Naming Convention: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Typically start with "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use" (e.g.,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useWindowSize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useFetch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. Combining Hooks: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Custom hooks can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combine multiple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built-in hooks like useState, useEffect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others.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4. Sharing State: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Enables sharing of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stateful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logic without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changing component hierarchy.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5. Isolation: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Helps in isolating complex logic,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making components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cleaner and easier to maintain.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6. Custom Return Values: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Can return any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value (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arrays, objects, or any other data type) based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 requirements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49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8957985" cy="919942"/>
          </a:xfrm>
        </p:spPr>
        <p:txBody>
          <a:bodyPr>
            <a:normAutofit/>
          </a:bodyPr>
          <a:lstStyle/>
          <a:p>
            <a:r>
              <a:rPr lang="en-US" b="1" dirty="0" smtClean="0"/>
              <a:t>Custom</a:t>
            </a:r>
            <a:r>
              <a:rPr lang="en-US" dirty="0" smtClean="0"/>
              <a:t> Hooks: Ex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400324" y="1370588"/>
            <a:ext cx="6737448" cy="2893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sz="1600" b="1" dirty="0" err="1">
                <a:solidFill>
                  <a:srgbClr val="001080"/>
                </a:solidFill>
                <a:latin typeface="Consolas"/>
              </a:rPr>
              <a:t>useState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sz="1600" b="1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A31515"/>
                </a:solidFill>
                <a:latin typeface="Consolas"/>
              </a:rPr>
              <a:t>"react"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sz="1600" b="1" dirty="0">
                <a:solidFill>
                  <a:srgbClr val="3B3B3B"/>
                </a:solidFill>
                <a:latin typeface="Consolas"/>
              </a:rPr>
            </a:br>
            <a:r>
              <a:rPr lang="en-US" sz="1600" b="1" dirty="0">
                <a:solidFill>
                  <a:srgbClr val="AF00DB"/>
                </a:solidFill>
                <a:latin typeface="Consolas"/>
              </a:rPr>
              <a:t>export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function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 err="1">
                <a:solidFill>
                  <a:srgbClr val="795E26"/>
                </a:solidFill>
                <a:latin typeface="Consolas"/>
              </a:rPr>
              <a:t>useCounter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600" b="1" dirty="0" err="1">
                <a:solidFill>
                  <a:srgbClr val="001080"/>
                </a:solidFill>
                <a:latin typeface="Consolas"/>
              </a:rPr>
              <a:t>initialValue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) {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sz="1600" b="1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[</a:t>
            </a:r>
            <a:r>
              <a:rPr lang="en-US" sz="1600" b="1" dirty="0">
                <a:solidFill>
                  <a:srgbClr val="0070C1"/>
                </a:solidFill>
                <a:latin typeface="Consolas"/>
              </a:rPr>
              <a:t>count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600" b="1" dirty="0" err="1">
                <a:solidFill>
                  <a:srgbClr val="795E26"/>
                </a:solidFill>
                <a:latin typeface="Consolas"/>
              </a:rPr>
              <a:t>setCount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] 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 err="1">
                <a:solidFill>
                  <a:srgbClr val="795E26"/>
                </a:solidFill>
                <a:latin typeface="Consolas"/>
              </a:rPr>
              <a:t>useState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600" b="1" dirty="0" err="1">
                <a:solidFill>
                  <a:srgbClr val="001080"/>
                </a:solidFill>
                <a:latin typeface="Consolas"/>
              </a:rPr>
              <a:t>initialValue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sz="1600" b="1" dirty="0">
                <a:solidFill>
                  <a:srgbClr val="3B3B3B"/>
                </a:solidFill>
                <a:latin typeface="Consolas"/>
              </a:rPr>
            </a:br>
            <a:r>
              <a:rPr lang="en-US" sz="1600" b="1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sz="1600" b="1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795E26"/>
                </a:solidFill>
                <a:latin typeface="Consolas"/>
              </a:rPr>
              <a:t>increment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() 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 err="1">
                <a:solidFill>
                  <a:srgbClr val="795E26"/>
                </a:solidFill>
                <a:latin typeface="Consolas"/>
              </a:rPr>
              <a:t>setCount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((</a:t>
            </a:r>
            <a:r>
              <a:rPr lang="en-US" sz="1600" b="1" dirty="0">
                <a:solidFill>
                  <a:srgbClr val="001080"/>
                </a:solidFill>
                <a:latin typeface="Consolas"/>
              </a:rPr>
              <a:t>c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01080"/>
                </a:solidFill>
                <a:latin typeface="Consolas"/>
              </a:rPr>
              <a:t>c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+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sz="1600" b="1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795E26"/>
                </a:solidFill>
                <a:latin typeface="Consolas"/>
              </a:rPr>
              <a:t>decrement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() 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 err="1">
                <a:solidFill>
                  <a:srgbClr val="795E26"/>
                </a:solidFill>
                <a:latin typeface="Consolas"/>
              </a:rPr>
              <a:t>setCount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((</a:t>
            </a:r>
            <a:r>
              <a:rPr lang="en-US" sz="1600" b="1" dirty="0">
                <a:solidFill>
                  <a:srgbClr val="001080"/>
                </a:solidFill>
                <a:latin typeface="Consolas"/>
              </a:rPr>
              <a:t>c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01080"/>
                </a:solidFill>
                <a:latin typeface="Consolas"/>
              </a:rPr>
              <a:t>c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sz="1600" b="1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795E26"/>
                </a:solidFill>
                <a:latin typeface="Consolas"/>
              </a:rPr>
              <a:t>reset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() 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 err="1">
                <a:solidFill>
                  <a:srgbClr val="795E26"/>
                </a:solidFill>
                <a:latin typeface="Consolas"/>
              </a:rPr>
              <a:t>setCount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600" b="1" dirty="0" err="1">
                <a:solidFill>
                  <a:srgbClr val="001080"/>
                </a:solidFill>
                <a:latin typeface="Consolas"/>
              </a:rPr>
              <a:t>initialValue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sz="1600" b="1" dirty="0">
                <a:solidFill>
                  <a:srgbClr val="3B3B3B"/>
                </a:solidFill>
                <a:latin typeface="Consolas"/>
              </a:rPr>
            </a:br>
            <a:r>
              <a:rPr lang="en-US" sz="1600" b="1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sz="1600" b="1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sz="1600" b="1" dirty="0">
                <a:solidFill>
                  <a:srgbClr val="001080"/>
                </a:solidFill>
                <a:latin typeface="Consolas"/>
              </a:rPr>
              <a:t>count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600" b="1" dirty="0">
                <a:solidFill>
                  <a:srgbClr val="795E26"/>
                </a:solidFill>
                <a:latin typeface="Consolas"/>
              </a:rPr>
              <a:t>increment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600" b="1" dirty="0">
                <a:solidFill>
                  <a:srgbClr val="795E26"/>
                </a:solidFill>
                <a:latin typeface="Consolas"/>
              </a:rPr>
              <a:t>decrement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600" b="1" dirty="0">
                <a:solidFill>
                  <a:srgbClr val="795E26"/>
                </a:solidFill>
                <a:latin typeface="Consolas"/>
              </a:rPr>
              <a:t>reset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};</a:t>
            </a:r>
          </a:p>
          <a:p>
            <a:r>
              <a:rPr lang="en-US" sz="1600" b="1" dirty="0" smtClean="0">
                <a:solidFill>
                  <a:srgbClr val="3B3B3B"/>
                </a:solidFill>
                <a:latin typeface="Consolas"/>
              </a:rPr>
              <a:t>}</a:t>
            </a:r>
            <a:endParaRPr lang="en-US" sz="1600" b="1" dirty="0">
              <a:solidFill>
                <a:srgbClr val="3B3B3B"/>
              </a:solidFill>
              <a:latin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39305" y="3472458"/>
            <a:ext cx="5952695" cy="33855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AF00DB"/>
                </a:solidFill>
                <a:latin typeface="Consolas"/>
              </a:rPr>
              <a:t>export</a:t>
            </a:r>
            <a:r>
              <a:rPr lang="en-US" sz="1600" b="1" dirty="0" smtClean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AF00DB"/>
                </a:solidFill>
                <a:latin typeface="Consolas"/>
              </a:rPr>
              <a:t>default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function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795E26"/>
                </a:solidFill>
                <a:latin typeface="Consolas"/>
              </a:rPr>
              <a:t>Counter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() {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sz="1600" b="1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sz="1600" b="1" dirty="0">
                <a:solidFill>
                  <a:srgbClr val="0070C1"/>
                </a:solidFill>
                <a:latin typeface="Consolas"/>
              </a:rPr>
              <a:t>count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600" b="1" dirty="0">
                <a:solidFill>
                  <a:srgbClr val="795E26"/>
                </a:solidFill>
                <a:latin typeface="Consolas"/>
              </a:rPr>
              <a:t>increment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600" b="1" dirty="0">
                <a:solidFill>
                  <a:srgbClr val="795E26"/>
                </a:solidFill>
                <a:latin typeface="Consolas"/>
              </a:rPr>
              <a:t>decrement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600" b="1" dirty="0">
                <a:solidFill>
                  <a:srgbClr val="795E26"/>
                </a:solidFill>
                <a:latin typeface="Consolas"/>
              </a:rPr>
              <a:t>reset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 err="1">
                <a:solidFill>
                  <a:srgbClr val="795E26"/>
                </a:solidFill>
                <a:latin typeface="Consolas"/>
              </a:rPr>
              <a:t>useCounter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600" b="1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sz="1600" b="1" dirty="0">
                <a:solidFill>
                  <a:srgbClr val="3B3B3B"/>
                </a:solidFill>
                <a:latin typeface="Consolas"/>
              </a:rPr>
            </a:br>
            <a:r>
              <a:rPr lang="en-US" sz="1600" b="1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sz="1600" b="1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(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600" b="1" dirty="0">
                <a:solidFill>
                  <a:srgbClr val="800000"/>
                </a:solidFill>
                <a:latin typeface="Consolas"/>
              </a:rPr>
              <a:t>&lt;div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 err="1">
                <a:solidFill>
                  <a:srgbClr val="E50000"/>
                </a:solidFill>
                <a:latin typeface="Consolas"/>
              </a:rPr>
              <a:t>className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1" dirty="0">
                <a:solidFill>
                  <a:srgbClr val="A31515"/>
                </a:solidFill>
                <a:latin typeface="Consolas"/>
              </a:rPr>
              <a:t>"counter"</a:t>
            </a:r>
            <a:r>
              <a:rPr lang="en-US" sz="1600" b="1" dirty="0">
                <a:solidFill>
                  <a:srgbClr val="800000"/>
                </a:solidFill>
                <a:latin typeface="Consolas"/>
              </a:rPr>
              <a:t>&gt;</a:t>
            </a:r>
            <a:endParaRPr lang="en-US" sz="1600" b="1" dirty="0">
              <a:solidFill>
                <a:srgbClr val="3B3B3B"/>
              </a:solidFill>
              <a:latin typeface="Consolas"/>
            </a:endParaRP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    </a:t>
            </a:r>
            <a:r>
              <a:rPr lang="en-US" sz="1600" b="1" dirty="0">
                <a:solidFill>
                  <a:srgbClr val="800000"/>
                </a:solidFill>
                <a:latin typeface="Consolas"/>
              </a:rPr>
              <a:t>&lt;p&gt;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Count: 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sz="1600" b="1" dirty="0">
                <a:solidFill>
                  <a:srgbClr val="0070C1"/>
                </a:solidFill>
                <a:latin typeface="Consolas"/>
              </a:rPr>
              <a:t>count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sz="1600" b="1" dirty="0">
                <a:solidFill>
                  <a:srgbClr val="800000"/>
                </a:solidFill>
                <a:latin typeface="Consolas"/>
              </a:rPr>
              <a:t>&lt;/p&gt;</a:t>
            </a:r>
            <a:endParaRPr lang="en-US" sz="1600" b="1" dirty="0">
              <a:solidFill>
                <a:srgbClr val="3B3B3B"/>
              </a:solidFill>
              <a:latin typeface="Consolas"/>
            </a:endParaRP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    </a:t>
            </a:r>
            <a:r>
              <a:rPr lang="en-US" sz="1600" b="1" dirty="0">
                <a:solidFill>
                  <a:srgbClr val="800000"/>
                </a:solidFill>
                <a:latin typeface="Consolas"/>
              </a:rPr>
              <a:t>&lt;button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 err="1">
                <a:solidFill>
                  <a:srgbClr val="E50000"/>
                </a:solidFill>
                <a:latin typeface="Consolas"/>
              </a:rPr>
              <a:t>onClick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sz="1600" b="1" dirty="0">
                <a:solidFill>
                  <a:srgbClr val="795E26"/>
                </a:solidFill>
                <a:latin typeface="Consolas"/>
              </a:rPr>
              <a:t>increment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sz="1600" b="1" dirty="0">
                <a:solidFill>
                  <a:srgbClr val="800000"/>
                </a:solidFill>
                <a:latin typeface="Consolas"/>
              </a:rPr>
              <a:t>&gt;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+</a:t>
            </a:r>
            <a:r>
              <a:rPr lang="en-US" sz="1600" b="1" dirty="0">
                <a:solidFill>
                  <a:srgbClr val="800000"/>
                </a:solidFill>
                <a:latin typeface="Consolas"/>
              </a:rPr>
              <a:t>&lt;/button&gt;</a:t>
            </a:r>
            <a:endParaRPr lang="en-US" sz="1600" b="1" dirty="0">
              <a:solidFill>
                <a:srgbClr val="3B3B3B"/>
              </a:solidFill>
              <a:latin typeface="Consolas"/>
            </a:endParaRP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    </a:t>
            </a:r>
            <a:r>
              <a:rPr lang="en-US" sz="1600" b="1" dirty="0">
                <a:solidFill>
                  <a:srgbClr val="800000"/>
                </a:solidFill>
                <a:latin typeface="Consolas"/>
              </a:rPr>
              <a:t>&lt;button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 err="1">
                <a:solidFill>
                  <a:srgbClr val="E50000"/>
                </a:solidFill>
                <a:latin typeface="Consolas"/>
              </a:rPr>
              <a:t>onClick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sz="1600" b="1" dirty="0">
                <a:solidFill>
                  <a:srgbClr val="795E26"/>
                </a:solidFill>
                <a:latin typeface="Consolas"/>
              </a:rPr>
              <a:t>decrement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sz="1600" b="1" dirty="0">
                <a:solidFill>
                  <a:srgbClr val="800000"/>
                </a:solidFill>
                <a:latin typeface="Consolas"/>
              </a:rPr>
              <a:t>&gt;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-</a:t>
            </a:r>
            <a:r>
              <a:rPr lang="en-US" sz="1600" b="1" dirty="0">
                <a:solidFill>
                  <a:srgbClr val="800000"/>
                </a:solidFill>
                <a:latin typeface="Consolas"/>
              </a:rPr>
              <a:t>&lt;/button&gt;</a:t>
            </a:r>
            <a:endParaRPr lang="en-US" sz="1600" b="1" dirty="0">
              <a:solidFill>
                <a:srgbClr val="3B3B3B"/>
              </a:solidFill>
              <a:latin typeface="Consolas"/>
            </a:endParaRP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    </a:t>
            </a:r>
            <a:r>
              <a:rPr lang="en-US" sz="1600" b="1" dirty="0">
                <a:solidFill>
                  <a:srgbClr val="800000"/>
                </a:solidFill>
                <a:latin typeface="Consolas"/>
              </a:rPr>
              <a:t>&lt;button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 err="1">
                <a:solidFill>
                  <a:srgbClr val="E50000"/>
                </a:solidFill>
                <a:latin typeface="Consolas"/>
              </a:rPr>
              <a:t>onClick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sz="1600" b="1" dirty="0">
                <a:solidFill>
                  <a:srgbClr val="795E26"/>
                </a:solidFill>
                <a:latin typeface="Consolas"/>
              </a:rPr>
              <a:t>reset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sz="1600" b="1" dirty="0">
                <a:solidFill>
                  <a:srgbClr val="800000"/>
                </a:solidFill>
                <a:latin typeface="Consolas"/>
              </a:rPr>
              <a:t>&gt;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Reset</a:t>
            </a:r>
            <a:r>
              <a:rPr lang="en-US" sz="1600" b="1" dirty="0">
                <a:solidFill>
                  <a:srgbClr val="800000"/>
                </a:solidFill>
                <a:latin typeface="Consolas"/>
              </a:rPr>
              <a:t>&lt;/button&gt;</a:t>
            </a:r>
            <a:endParaRPr lang="en-US" sz="1600" b="1" dirty="0">
              <a:solidFill>
                <a:srgbClr val="3B3B3B"/>
              </a:solidFill>
              <a:latin typeface="Consolas"/>
            </a:endParaRP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600" b="1" dirty="0">
                <a:solidFill>
                  <a:srgbClr val="800000"/>
                </a:solidFill>
                <a:latin typeface="Consolas"/>
              </a:rPr>
              <a:t>&lt;/div&gt;</a:t>
            </a:r>
            <a:endParaRPr lang="en-US" sz="1600" b="1" dirty="0">
              <a:solidFill>
                <a:srgbClr val="3B3B3B"/>
              </a:solidFill>
              <a:latin typeface="Consolas"/>
            </a:endParaRP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);</a:t>
            </a:r>
          </a:p>
          <a:p>
            <a:r>
              <a:rPr lang="en-US" sz="1600" b="1" dirty="0" smtClean="0">
                <a:solidFill>
                  <a:srgbClr val="3B3B3B"/>
                </a:solidFill>
                <a:latin typeface="Consolas"/>
              </a:rPr>
              <a:t>}</a:t>
            </a:r>
            <a:endParaRPr lang="en-US" sz="1600" b="1" dirty="0">
              <a:solidFill>
                <a:srgbClr val="3B3B3B"/>
              </a:solidFill>
              <a:effectLst/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38741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8957985" cy="919942"/>
          </a:xfrm>
        </p:spPr>
        <p:txBody>
          <a:bodyPr>
            <a:normAutofit/>
          </a:bodyPr>
          <a:lstStyle/>
          <a:p>
            <a:r>
              <a:rPr lang="en-US" b="1" dirty="0" smtClean="0"/>
              <a:t>Custom</a:t>
            </a:r>
            <a:r>
              <a:rPr lang="en-US" dirty="0" smtClean="0"/>
              <a:t> Hooks: Ex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846161" y="1293212"/>
            <a:ext cx="10031103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01080"/>
                </a:solidFill>
                <a:latin typeface="Consolas"/>
              </a:rPr>
              <a:t>React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A31515"/>
                </a:solidFill>
                <a:latin typeface="Consolas"/>
              </a:rPr>
              <a:t>"react"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sz="1600" b="1" dirty="0">
                <a:solidFill>
                  <a:srgbClr val="AF00DB"/>
                </a:solidFill>
                <a:latin typeface="Consolas"/>
              </a:rPr>
              <a:t>import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{ </a:t>
            </a:r>
            <a:r>
              <a:rPr lang="en-US" sz="1600" b="1" dirty="0" err="1">
                <a:solidFill>
                  <a:srgbClr val="001080"/>
                </a:solidFill>
                <a:latin typeface="Consolas"/>
              </a:rPr>
              <a:t>useState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600" b="1" dirty="0" err="1">
                <a:solidFill>
                  <a:srgbClr val="001080"/>
                </a:solidFill>
                <a:latin typeface="Consolas"/>
              </a:rPr>
              <a:t>useEffect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} </a:t>
            </a:r>
            <a:r>
              <a:rPr lang="en-US" sz="1600" b="1" dirty="0">
                <a:solidFill>
                  <a:srgbClr val="AF00DB"/>
                </a:solidFill>
                <a:latin typeface="Consolas"/>
              </a:rPr>
              <a:t>from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A31515"/>
                </a:solidFill>
                <a:latin typeface="Consolas"/>
              </a:rPr>
              <a:t>"react"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sz="1600" b="1" dirty="0">
                <a:solidFill>
                  <a:srgbClr val="3B3B3B"/>
                </a:solidFill>
                <a:latin typeface="Consolas"/>
              </a:rPr>
            </a:br>
            <a:r>
              <a:rPr lang="en-US" sz="1600" b="1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 err="1">
                <a:solidFill>
                  <a:srgbClr val="795E26"/>
                </a:solidFill>
                <a:latin typeface="Consolas"/>
              </a:rPr>
              <a:t>useWindowWidth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(</a:t>
            </a:r>
            <a:r>
              <a:rPr lang="en-US" sz="1600" b="1" dirty="0">
                <a:solidFill>
                  <a:srgbClr val="001080"/>
                </a:solidFill>
                <a:latin typeface="Consolas"/>
              </a:rPr>
              <a:t>delay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98658"/>
                </a:solidFill>
                <a:latin typeface="Consolas"/>
              </a:rPr>
              <a:t>200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) 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sz="1600" b="1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[</a:t>
            </a:r>
            <a:r>
              <a:rPr lang="en-US" sz="1600" b="1" dirty="0">
                <a:solidFill>
                  <a:srgbClr val="0070C1"/>
                </a:solidFill>
                <a:latin typeface="Consolas"/>
              </a:rPr>
              <a:t>width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600" b="1" dirty="0" err="1">
                <a:solidFill>
                  <a:srgbClr val="795E26"/>
                </a:solidFill>
                <a:latin typeface="Consolas"/>
              </a:rPr>
              <a:t>setWidth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] 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 err="1">
                <a:solidFill>
                  <a:srgbClr val="795E26"/>
                </a:solidFill>
                <a:latin typeface="Consolas"/>
              </a:rPr>
              <a:t>useState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600" b="1" dirty="0" err="1">
                <a:solidFill>
                  <a:srgbClr val="001080"/>
                </a:solidFill>
                <a:latin typeface="Consolas"/>
              </a:rPr>
              <a:t>window</a:t>
            </a:r>
            <a:r>
              <a:rPr lang="en-US" sz="1600" b="1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sz="1600" b="1" dirty="0" err="1">
                <a:solidFill>
                  <a:srgbClr val="001080"/>
                </a:solidFill>
                <a:latin typeface="Consolas"/>
              </a:rPr>
              <a:t>innerWidth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sz="1600" b="1" dirty="0">
                <a:solidFill>
                  <a:srgbClr val="3B3B3B"/>
                </a:solidFill>
                <a:latin typeface="Consolas"/>
              </a:rPr>
            </a:br>
            <a:r>
              <a:rPr lang="en-US" sz="1600" b="1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sz="1600" b="1" dirty="0" err="1">
                <a:solidFill>
                  <a:srgbClr val="795E26"/>
                </a:solidFill>
                <a:latin typeface="Consolas"/>
              </a:rPr>
              <a:t>useEffect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(() 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let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 err="1">
                <a:solidFill>
                  <a:srgbClr val="001080"/>
                </a:solidFill>
                <a:latin typeface="Consolas"/>
              </a:rPr>
              <a:t>timeoutId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null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sz="1600" b="1" dirty="0">
                <a:solidFill>
                  <a:srgbClr val="3B3B3B"/>
                </a:solidFill>
                <a:latin typeface="Consolas"/>
              </a:rPr>
            </a:br>
            <a:r>
              <a:rPr lang="en-US" sz="1600" b="1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600" b="1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 err="1">
                <a:solidFill>
                  <a:srgbClr val="795E26"/>
                </a:solidFill>
                <a:latin typeface="Consolas"/>
              </a:rPr>
              <a:t>handleResize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() 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    </a:t>
            </a:r>
            <a:r>
              <a:rPr lang="en-US" sz="1600" b="1" dirty="0" err="1">
                <a:solidFill>
                  <a:srgbClr val="795E26"/>
                </a:solidFill>
                <a:latin typeface="Consolas"/>
              </a:rPr>
              <a:t>clearTimeout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600" b="1" dirty="0" err="1">
                <a:solidFill>
                  <a:srgbClr val="001080"/>
                </a:solidFill>
                <a:latin typeface="Consolas"/>
              </a:rPr>
              <a:t>timeoutId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    </a:t>
            </a:r>
            <a:r>
              <a:rPr lang="en-US" sz="1600" b="1" dirty="0" err="1">
                <a:solidFill>
                  <a:srgbClr val="001080"/>
                </a:solidFill>
                <a:latin typeface="Consolas"/>
              </a:rPr>
              <a:t>timeoutId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 err="1">
                <a:solidFill>
                  <a:srgbClr val="795E26"/>
                </a:solidFill>
                <a:latin typeface="Consolas"/>
              </a:rPr>
              <a:t>setTimeout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(() 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 err="1">
                <a:solidFill>
                  <a:srgbClr val="795E26"/>
                </a:solidFill>
                <a:latin typeface="Consolas"/>
              </a:rPr>
              <a:t>setWidth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600" b="1" dirty="0" err="1">
                <a:solidFill>
                  <a:srgbClr val="001080"/>
                </a:solidFill>
                <a:latin typeface="Consolas"/>
              </a:rPr>
              <a:t>window</a:t>
            </a:r>
            <a:r>
              <a:rPr lang="en-US" sz="1600" b="1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sz="1600" b="1" dirty="0" err="1">
                <a:solidFill>
                  <a:srgbClr val="001080"/>
                </a:solidFill>
                <a:latin typeface="Consolas"/>
              </a:rPr>
              <a:t>innerWidth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), </a:t>
            </a:r>
            <a:r>
              <a:rPr lang="en-US" sz="1600" b="1" dirty="0">
                <a:solidFill>
                  <a:srgbClr val="001080"/>
                </a:solidFill>
                <a:latin typeface="Consolas"/>
              </a:rPr>
              <a:t>delay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  };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sz="1600" b="1" dirty="0">
                <a:solidFill>
                  <a:srgbClr val="3B3B3B"/>
                </a:solidFill>
                <a:latin typeface="Consolas"/>
              </a:rPr>
            </a:br>
            <a:r>
              <a:rPr lang="en-US" sz="1600" b="1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600" b="1" dirty="0" err="1">
                <a:solidFill>
                  <a:srgbClr val="001080"/>
                </a:solidFill>
                <a:latin typeface="Consolas"/>
              </a:rPr>
              <a:t>window</a:t>
            </a:r>
            <a:r>
              <a:rPr lang="en-US" sz="1600" b="1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sz="1600" b="1" dirty="0" err="1">
                <a:solidFill>
                  <a:srgbClr val="795E26"/>
                </a:solidFill>
                <a:latin typeface="Consolas"/>
              </a:rPr>
              <a:t>addEventListener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600" b="1" dirty="0">
                <a:solidFill>
                  <a:srgbClr val="A31515"/>
                </a:solidFill>
                <a:latin typeface="Consolas"/>
              </a:rPr>
              <a:t>"resize"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600" b="1" dirty="0" err="1">
                <a:solidFill>
                  <a:srgbClr val="795E26"/>
                </a:solidFill>
                <a:latin typeface="Consolas"/>
              </a:rPr>
              <a:t>handleResize</a:t>
            </a:r>
            <a:r>
              <a:rPr lang="en-US" sz="1600" b="1" dirty="0" smtClean="0">
                <a:solidFill>
                  <a:srgbClr val="3B3B3B"/>
                </a:solidFill>
                <a:latin typeface="Consolas"/>
              </a:rPr>
              <a:t>);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sz="1600" b="1" dirty="0">
                <a:solidFill>
                  <a:srgbClr val="3B3B3B"/>
                </a:solidFill>
                <a:latin typeface="Consolas"/>
              </a:rPr>
            </a:br>
            <a:r>
              <a:rPr lang="en-US" sz="1600" b="1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1600" b="1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() </a:t>
            </a:r>
            <a:r>
              <a:rPr lang="en-US" sz="1600" b="1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    </a:t>
            </a:r>
            <a:r>
              <a:rPr lang="en-US" sz="1600" b="1" dirty="0" err="1">
                <a:solidFill>
                  <a:srgbClr val="795E26"/>
                </a:solidFill>
                <a:latin typeface="Consolas"/>
              </a:rPr>
              <a:t>clearTimeout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600" b="1" dirty="0" err="1">
                <a:solidFill>
                  <a:srgbClr val="001080"/>
                </a:solidFill>
                <a:latin typeface="Consolas"/>
              </a:rPr>
              <a:t>timeoutId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    </a:t>
            </a:r>
            <a:r>
              <a:rPr lang="en-US" sz="1600" b="1" dirty="0" err="1">
                <a:solidFill>
                  <a:srgbClr val="001080"/>
                </a:solidFill>
                <a:latin typeface="Consolas"/>
              </a:rPr>
              <a:t>window</a:t>
            </a:r>
            <a:r>
              <a:rPr lang="en-US" sz="1600" b="1" dirty="0" err="1">
                <a:solidFill>
                  <a:srgbClr val="3B3B3B"/>
                </a:solidFill>
                <a:latin typeface="Consolas"/>
              </a:rPr>
              <a:t>.</a:t>
            </a:r>
            <a:r>
              <a:rPr lang="en-US" sz="1600" b="1" dirty="0" err="1">
                <a:solidFill>
                  <a:srgbClr val="795E26"/>
                </a:solidFill>
                <a:latin typeface="Consolas"/>
              </a:rPr>
              <a:t>removeEventListener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(</a:t>
            </a:r>
            <a:r>
              <a:rPr lang="en-US" sz="1600" b="1" dirty="0">
                <a:solidFill>
                  <a:srgbClr val="A31515"/>
                </a:solidFill>
                <a:latin typeface="Consolas"/>
              </a:rPr>
              <a:t>"resize"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, </a:t>
            </a:r>
            <a:r>
              <a:rPr lang="en-US" sz="1600" b="1" dirty="0" err="1">
                <a:solidFill>
                  <a:srgbClr val="795E26"/>
                </a:solidFill>
                <a:latin typeface="Consolas"/>
              </a:rPr>
              <a:t>handleResize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);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  };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  }, [</a:t>
            </a:r>
            <a:r>
              <a:rPr lang="en-US" sz="1600" b="1" dirty="0">
                <a:solidFill>
                  <a:srgbClr val="001080"/>
                </a:solidFill>
                <a:latin typeface="Consolas"/>
              </a:rPr>
              <a:t>delay</a:t>
            </a:r>
            <a:r>
              <a:rPr lang="en-US" sz="1600" b="1" dirty="0" smtClean="0">
                <a:solidFill>
                  <a:srgbClr val="3B3B3B"/>
                </a:solidFill>
                <a:latin typeface="Consolas"/>
              </a:rPr>
              <a:t>]);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sz="1600" b="1" dirty="0">
                <a:solidFill>
                  <a:srgbClr val="3B3B3B"/>
                </a:solidFill>
                <a:latin typeface="Consolas"/>
              </a:rPr>
            </a:br>
            <a:r>
              <a:rPr lang="en-US" sz="1600" b="1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sz="1600" b="1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1600" b="1" dirty="0">
                <a:solidFill>
                  <a:srgbClr val="0070C1"/>
                </a:solidFill>
                <a:latin typeface="Consolas"/>
              </a:rPr>
              <a:t>width</a:t>
            </a:r>
            <a:r>
              <a:rPr lang="en-US" sz="1600" b="1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>};</a:t>
            </a:r>
          </a:p>
          <a:p>
            <a:r>
              <a:rPr lang="en-US" sz="1600" b="1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sz="1600" b="1" dirty="0">
                <a:solidFill>
                  <a:srgbClr val="3B3B3B"/>
                </a:solidFill>
                <a:latin typeface="Consolas"/>
              </a:rPr>
            </a:br>
            <a:r>
              <a:rPr lang="en-US" sz="1600" b="1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sz="1600" b="1" dirty="0">
                <a:solidFill>
                  <a:srgbClr val="3B3B3B"/>
                </a:solidFill>
                <a:latin typeface="Consolas"/>
              </a:rPr>
            </a:br>
            <a:endParaRPr lang="en-US" sz="1600" b="1" dirty="0">
              <a:solidFill>
                <a:srgbClr val="3B3B3B"/>
              </a:solidFill>
              <a:effectLst/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586540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8957985" cy="919942"/>
          </a:xfrm>
        </p:spPr>
        <p:txBody>
          <a:bodyPr>
            <a:normAutofit/>
          </a:bodyPr>
          <a:lstStyle/>
          <a:p>
            <a:r>
              <a:rPr lang="en-US" b="1" dirty="0" smtClean="0"/>
              <a:t>Custom</a:t>
            </a:r>
            <a:r>
              <a:rPr lang="en-US" dirty="0" smtClean="0"/>
              <a:t> Hooks: Ex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846161" y="1470633"/>
            <a:ext cx="1003110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b="1" dirty="0" smtClean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795E26"/>
                </a:solidFill>
                <a:latin typeface="Consolas"/>
              </a:rPr>
              <a:t>ResponsiveComponent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() </a:t>
            </a:r>
            <a:r>
              <a:rPr lang="en-US" b="1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{</a:t>
            </a: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b="1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0070C1"/>
                </a:solidFill>
                <a:latin typeface="Consolas"/>
              </a:rPr>
              <a:t>width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795E26"/>
                </a:solidFill>
                <a:latin typeface="Consolas"/>
              </a:rPr>
              <a:t>useWindowWidth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();</a:t>
            </a: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b="1" dirty="0">
                <a:solidFill>
                  <a:srgbClr val="3B3B3B"/>
                </a:solidFill>
                <a:latin typeface="Consolas"/>
              </a:rPr>
            </a:br>
            <a:r>
              <a:rPr lang="en-US" b="1" dirty="0">
                <a:solidFill>
                  <a:srgbClr val="3B3B3B"/>
                </a:solidFill>
                <a:latin typeface="Consolas"/>
              </a:rPr>
              <a:t>  </a:t>
            </a:r>
            <a:r>
              <a:rPr lang="en-US" b="1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(</a:t>
            </a: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b="1" dirty="0">
                <a:solidFill>
                  <a:srgbClr val="800000"/>
                </a:solidFill>
                <a:latin typeface="Consolas"/>
              </a:rPr>
              <a:t>&lt;div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E50000"/>
                </a:solidFill>
                <a:latin typeface="Consolas"/>
              </a:rPr>
              <a:t>style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1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{ </a:t>
            </a:r>
            <a:r>
              <a:rPr lang="en-US" b="1" dirty="0">
                <a:solidFill>
                  <a:srgbClr val="001080"/>
                </a:solidFill>
                <a:latin typeface="Consolas"/>
              </a:rPr>
              <a:t>padding: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A31515"/>
                </a:solidFill>
                <a:latin typeface="Consolas"/>
              </a:rPr>
              <a:t>"20px"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b="1" dirty="0" err="1">
                <a:solidFill>
                  <a:srgbClr val="001080"/>
                </a:solidFill>
                <a:latin typeface="Consolas"/>
              </a:rPr>
              <a:t>textAlign</a:t>
            </a:r>
            <a:r>
              <a:rPr lang="en-US" b="1" dirty="0">
                <a:solidFill>
                  <a:srgbClr val="001080"/>
                </a:solidFill>
                <a:latin typeface="Consolas"/>
              </a:rPr>
              <a:t>: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A31515"/>
                </a:solidFill>
                <a:latin typeface="Consolas"/>
              </a:rPr>
              <a:t>"center"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}</a:t>
            </a:r>
            <a:r>
              <a:rPr lang="en-US" b="1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b="1" dirty="0">
                <a:solidFill>
                  <a:srgbClr val="800000"/>
                </a:solidFill>
                <a:latin typeface="Consolas"/>
              </a:rPr>
              <a:t>&gt;</a:t>
            </a:r>
            <a:endParaRPr lang="en-US" b="1" dirty="0">
              <a:solidFill>
                <a:srgbClr val="3B3B3B"/>
              </a:solidFill>
              <a:latin typeface="Consolas"/>
            </a:endParaRP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>      </a:t>
            </a:r>
            <a:r>
              <a:rPr lang="en-US" b="1" dirty="0">
                <a:solidFill>
                  <a:srgbClr val="800000"/>
                </a:solidFill>
                <a:latin typeface="Consolas"/>
              </a:rPr>
              <a:t>&lt;h2&gt;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Current Window Width:</a:t>
            </a:r>
            <a:r>
              <a:rPr lang="en-US" b="1" dirty="0">
                <a:solidFill>
                  <a:srgbClr val="800000"/>
                </a:solidFill>
                <a:latin typeface="Consolas"/>
              </a:rPr>
              <a:t>&lt;/h2&gt;</a:t>
            </a:r>
            <a:endParaRPr lang="en-US" b="1" dirty="0">
              <a:solidFill>
                <a:srgbClr val="3B3B3B"/>
              </a:solidFill>
              <a:latin typeface="Consolas"/>
            </a:endParaRP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>      </a:t>
            </a:r>
            <a:r>
              <a:rPr lang="en-US" b="1" dirty="0">
                <a:solidFill>
                  <a:srgbClr val="800000"/>
                </a:solidFill>
                <a:latin typeface="Consolas"/>
              </a:rPr>
              <a:t>&lt;p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E50000"/>
                </a:solidFill>
                <a:latin typeface="Consolas"/>
              </a:rPr>
              <a:t>style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b="1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{ </a:t>
            </a:r>
            <a:r>
              <a:rPr lang="en-US" b="1" dirty="0" err="1">
                <a:solidFill>
                  <a:srgbClr val="001080"/>
                </a:solidFill>
                <a:latin typeface="Consolas"/>
              </a:rPr>
              <a:t>fontSize</a:t>
            </a:r>
            <a:r>
              <a:rPr lang="en-US" b="1" dirty="0">
                <a:solidFill>
                  <a:srgbClr val="001080"/>
                </a:solidFill>
                <a:latin typeface="Consolas"/>
              </a:rPr>
              <a:t>: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A31515"/>
                </a:solidFill>
                <a:latin typeface="Consolas"/>
              </a:rPr>
              <a:t>"24px"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b="1" dirty="0" err="1">
                <a:solidFill>
                  <a:srgbClr val="001080"/>
                </a:solidFill>
                <a:latin typeface="Consolas"/>
              </a:rPr>
              <a:t>fontWeight</a:t>
            </a:r>
            <a:r>
              <a:rPr lang="en-US" b="1" dirty="0">
                <a:solidFill>
                  <a:srgbClr val="001080"/>
                </a:solidFill>
                <a:latin typeface="Consolas"/>
              </a:rPr>
              <a:t>: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A31515"/>
                </a:solidFill>
                <a:latin typeface="Consolas"/>
              </a:rPr>
              <a:t>"bold"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b="1" dirty="0">
                <a:solidFill>
                  <a:srgbClr val="001080"/>
                </a:solidFill>
                <a:latin typeface="Consolas"/>
              </a:rPr>
              <a:t>color: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A31515"/>
                </a:solidFill>
                <a:latin typeface="Consolas"/>
              </a:rPr>
              <a:t>"blue"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}</a:t>
            </a:r>
            <a:r>
              <a:rPr lang="en-US" b="1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b="1" dirty="0">
                <a:solidFill>
                  <a:srgbClr val="800000"/>
                </a:solidFill>
                <a:latin typeface="Consolas"/>
              </a:rPr>
              <a:t>&gt;</a:t>
            </a:r>
            <a:endParaRPr lang="en-US" b="1" dirty="0">
              <a:solidFill>
                <a:srgbClr val="3B3B3B"/>
              </a:solidFill>
              <a:latin typeface="Consolas"/>
            </a:endParaRP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>        </a:t>
            </a:r>
            <a:r>
              <a:rPr lang="en-US" b="1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b="1" dirty="0">
                <a:solidFill>
                  <a:srgbClr val="0070C1"/>
                </a:solidFill>
                <a:latin typeface="Consolas"/>
              </a:rPr>
              <a:t>width</a:t>
            </a:r>
            <a:r>
              <a:rPr lang="en-US" b="1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b="1" dirty="0" err="1">
                <a:solidFill>
                  <a:srgbClr val="3B3B3B"/>
                </a:solidFill>
                <a:latin typeface="Consolas"/>
              </a:rPr>
              <a:t>px</a:t>
            </a:r>
            <a:endParaRPr lang="en-US" b="1" dirty="0">
              <a:solidFill>
                <a:srgbClr val="3B3B3B"/>
              </a:solidFill>
              <a:latin typeface="Consolas"/>
            </a:endParaRP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>      </a:t>
            </a:r>
            <a:r>
              <a:rPr lang="en-US" b="1" dirty="0">
                <a:solidFill>
                  <a:srgbClr val="800000"/>
                </a:solidFill>
                <a:latin typeface="Consolas"/>
              </a:rPr>
              <a:t>&lt;/p&gt;</a:t>
            </a:r>
            <a:endParaRPr lang="en-US" b="1" dirty="0">
              <a:solidFill>
                <a:srgbClr val="3B3B3B"/>
              </a:solidFill>
              <a:latin typeface="Consolas"/>
            </a:endParaRP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b="1" dirty="0">
                <a:solidFill>
                  <a:srgbClr val="800000"/>
                </a:solidFill>
                <a:latin typeface="Consolas"/>
              </a:rPr>
              <a:t>&lt;/div&gt;</a:t>
            </a:r>
            <a:endParaRPr lang="en-US" b="1" dirty="0">
              <a:solidFill>
                <a:srgbClr val="3B3B3B"/>
              </a:solidFill>
              <a:latin typeface="Consolas"/>
            </a:endParaRP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>  );</a:t>
            </a: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>};</a:t>
            </a: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b="1" dirty="0">
                <a:solidFill>
                  <a:srgbClr val="3B3B3B"/>
                </a:solidFill>
                <a:latin typeface="Consolas"/>
              </a:rPr>
            </a:br>
            <a:r>
              <a:rPr lang="en-US" b="1" dirty="0">
                <a:solidFill>
                  <a:srgbClr val="AF00DB"/>
                </a:solidFill>
                <a:latin typeface="Consolas"/>
              </a:rPr>
              <a:t>export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AF00DB"/>
                </a:solidFill>
                <a:latin typeface="Consolas"/>
              </a:rPr>
              <a:t>default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795E26"/>
                </a:solidFill>
                <a:latin typeface="Consolas"/>
              </a:rPr>
              <a:t>ResponsiveComponent</a:t>
            </a:r>
            <a:r>
              <a:rPr lang="en-US" b="1" dirty="0">
                <a:solidFill>
                  <a:srgbClr val="3B3B3B"/>
                </a:solidFill>
                <a:latin typeface="Consolas"/>
              </a:rPr>
              <a:t>;</a:t>
            </a:r>
          </a:p>
          <a:p>
            <a:r>
              <a:rPr lang="en-US" b="1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b="1" dirty="0">
                <a:solidFill>
                  <a:srgbClr val="3B3B3B"/>
                </a:solidFill>
                <a:latin typeface="Consolas"/>
              </a:rPr>
            </a:br>
            <a:endParaRPr lang="en-US" b="1" dirty="0">
              <a:solidFill>
                <a:srgbClr val="3B3B3B"/>
              </a:solidFill>
              <a:effectLst/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96087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8957985" cy="919942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Component Spectrum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263" y="1529542"/>
            <a:ext cx="965343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Clr>
                <a:srgbClr val="FFC00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 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Spectrum of Components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is a way to think about how components range from small and reusable to large and specific. Unlike strict categories (like "atoms" or "molecules"), this idea says components exist on a 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fluid scale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—meaning they can be anywhere between super reusable and very specific.</a:t>
            </a:r>
          </a:p>
          <a:p>
            <a:pPr fontAlgn="base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Why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is this important?</a:t>
            </a:r>
          </a:p>
          <a:p>
            <a:pPr marL="342900" indent="-342900" fontAlgn="base">
              <a:buClr>
                <a:srgbClr val="FF9900"/>
              </a:buClr>
              <a:buFont typeface="Wingdings" pitchFamily="2" charset="2"/>
              <a:buChar char="ü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Avoids unnecessary debates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– No need to argue whether a component is an "atom" or "molecule."</a:t>
            </a:r>
          </a:p>
          <a:p>
            <a:pPr marL="342900" indent="-342900" fontAlgn="base">
              <a:buClr>
                <a:srgbClr val="FF9900"/>
              </a:buClr>
              <a:buFont typeface="Wingdings" pitchFamily="2" charset="2"/>
              <a:buChar char="ü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Easier to organize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– Instead of forcing components into strict folders, you can keep them in a simple structure.</a:t>
            </a:r>
          </a:p>
          <a:p>
            <a:pPr marL="342900" indent="-342900" fontAlgn="base">
              <a:buClr>
                <a:srgbClr val="FF9900"/>
              </a:buClr>
              <a:buFont typeface="Wingdings" pitchFamily="2" charset="2"/>
              <a:buChar char="ü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More flexible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– Real-world components don’t always fit into neat boxes, and that’s okay!</a:t>
            </a:r>
          </a:p>
        </p:txBody>
      </p:sp>
    </p:spTree>
    <p:extLst>
      <p:ext uri="{BB962C8B-B14F-4D97-AF65-F5344CB8AC3E}">
        <p14:creationId xmlns:p14="http://schemas.microsoft.com/office/powerpoint/2010/main" val="420479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8957985" cy="919942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Polymorphic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263" y="1529542"/>
            <a:ext cx="965343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Clr>
                <a:srgbClr val="FFC000"/>
              </a:buClr>
              <a:buFont typeface="Wingdings" pitchFamily="2" charset="2"/>
              <a:buChar char="v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polymorphic component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in React is a highly reusable component that can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render different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underlying HTML elements or custom components while maintaining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consistent styles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logic. This is typically achieved using a special prop,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often named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or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component,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specify the desired output element. 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base">
              <a:buClr>
                <a:srgbClr val="FFC000"/>
              </a:buClr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Simplifying, polymorphic components render as different elements based on props passed to them. A typical example is 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LinkButton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that takes an as prop and can either be a 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button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or 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06806" y="3883249"/>
            <a:ext cx="346198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800000"/>
                </a:solidFill>
                <a:latin typeface="Consolas"/>
              </a:rPr>
              <a:t>&lt;</a:t>
            </a:r>
            <a:r>
              <a:rPr lang="en-US" sz="2000" b="1" dirty="0" err="1">
                <a:solidFill>
                  <a:srgbClr val="267F99"/>
                </a:solidFill>
                <a:latin typeface="Consolas"/>
              </a:rPr>
              <a:t>LinkButton</a:t>
            </a:r>
            <a:endParaRPr lang="en-US" sz="2000" b="1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b="1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2000" b="1" dirty="0">
                <a:solidFill>
                  <a:srgbClr val="E50000"/>
                </a:solidFill>
                <a:latin typeface="Consolas"/>
              </a:rPr>
              <a:t>as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2000" b="1" dirty="0">
                <a:solidFill>
                  <a:srgbClr val="A31515"/>
                </a:solidFill>
                <a:latin typeface="Consolas"/>
              </a:rPr>
              <a:t>"a"</a:t>
            </a:r>
            <a:endParaRPr lang="en-US" sz="2000" b="1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b="1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2000" b="1" dirty="0" err="1">
                <a:solidFill>
                  <a:srgbClr val="E50000"/>
                </a:solidFill>
                <a:latin typeface="Consolas"/>
              </a:rPr>
              <a:t>href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2000" b="1" dirty="0">
                <a:solidFill>
                  <a:srgbClr val="A31515"/>
                </a:solidFill>
                <a:latin typeface="Consolas"/>
              </a:rPr>
              <a:t>"/"</a:t>
            </a:r>
            <a:r>
              <a:rPr lang="en-US" sz="20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Consolas"/>
              </a:rPr>
              <a:t>/&gt;</a:t>
            </a:r>
            <a:endParaRPr lang="en-US" sz="2000" b="1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b="1" dirty="0">
                <a:solidFill>
                  <a:srgbClr val="3B3B3B"/>
                </a:solidFill>
                <a:latin typeface="Consolas"/>
              </a:rPr>
              <a:t/>
            </a:r>
            <a:br>
              <a:rPr lang="en-US" sz="2000" b="1" dirty="0">
                <a:solidFill>
                  <a:srgbClr val="3B3B3B"/>
                </a:solidFill>
                <a:latin typeface="Consolas"/>
              </a:rPr>
            </a:br>
            <a:r>
              <a:rPr lang="en-US" sz="2000" b="1" dirty="0">
                <a:solidFill>
                  <a:srgbClr val="800000"/>
                </a:solidFill>
                <a:latin typeface="Consolas"/>
              </a:rPr>
              <a:t>&lt;</a:t>
            </a:r>
            <a:r>
              <a:rPr lang="en-US" sz="2000" b="1" dirty="0" err="1">
                <a:solidFill>
                  <a:srgbClr val="267F99"/>
                </a:solidFill>
                <a:latin typeface="Consolas"/>
              </a:rPr>
              <a:t>LinkButton</a:t>
            </a:r>
            <a:endParaRPr lang="en-US" sz="2000" b="1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b="1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2000" b="1" dirty="0">
                <a:solidFill>
                  <a:srgbClr val="E50000"/>
                </a:solidFill>
                <a:latin typeface="Consolas"/>
              </a:rPr>
              <a:t>as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2000" b="1" dirty="0">
                <a:solidFill>
                  <a:srgbClr val="A31515"/>
                </a:solidFill>
                <a:latin typeface="Consolas"/>
              </a:rPr>
              <a:t>"button"</a:t>
            </a:r>
            <a:endParaRPr lang="en-US" sz="2000" b="1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b="1" dirty="0">
                <a:solidFill>
                  <a:srgbClr val="3B3B3B"/>
                </a:solidFill>
                <a:latin typeface="Consolas"/>
              </a:rPr>
              <a:t>    </a:t>
            </a:r>
            <a:r>
              <a:rPr lang="en-US" sz="2000" b="1" dirty="0" err="1">
                <a:solidFill>
                  <a:srgbClr val="E50000"/>
                </a:solidFill>
                <a:latin typeface="Consolas"/>
              </a:rPr>
              <a:t>onClick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2000" b="1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b="1" dirty="0">
                <a:solidFill>
                  <a:srgbClr val="001080"/>
                </a:solidFill>
                <a:latin typeface="Consolas"/>
              </a:rPr>
              <a:t>e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2000" b="1" dirty="0">
                <a:solidFill>
                  <a:srgbClr val="0000FF"/>
                </a:solidFill>
                <a:latin typeface="Consolas"/>
              </a:rPr>
              <a:t>=&gt;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 {</a:t>
            </a:r>
            <a:endParaRPr lang="en-US" sz="2000" b="1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nsolas"/>
              </a:rPr>
              <a:t>        </a:t>
            </a:r>
            <a:r>
              <a:rPr lang="en-US" sz="2000" b="1" dirty="0">
                <a:solidFill>
                  <a:srgbClr val="001080"/>
                </a:solidFill>
                <a:latin typeface="Consolas"/>
              </a:rPr>
              <a:t>console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.</a:t>
            </a:r>
            <a:r>
              <a:rPr lang="en-US" sz="2000" b="1" dirty="0">
                <a:solidFill>
                  <a:srgbClr val="795E26"/>
                </a:solidFill>
                <a:latin typeface="Consolas"/>
              </a:rPr>
              <a:t>log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b="1" dirty="0">
                <a:solidFill>
                  <a:srgbClr val="001080"/>
                </a:solidFill>
                <a:latin typeface="Consolas"/>
              </a:rPr>
              <a:t>e</a:t>
            </a:r>
            <a:r>
              <a:rPr lang="en-US" sz="2000" b="1" dirty="0">
                <a:solidFill>
                  <a:srgbClr val="000000"/>
                </a:solidFill>
                <a:latin typeface="Consolas"/>
              </a:rPr>
              <a:t>);</a:t>
            </a:r>
            <a:endParaRPr lang="en-US" sz="2000" b="1" dirty="0">
              <a:solidFill>
                <a:srgbClr val="3B3B3B"/>
              </a:solidFill>
              <a:latin typeface="Consolas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nsolas"/>
              </a:rPr>
              <a:t>    }</a:t>
            </a:r>
            <a:r>
              <a:rPr lang="en-US" sz="2000" b="1" dirty="0">
                <a:solidFill>
                  <a:srgbClr val="0000FF"/>
                </a:solidFill>
                <a:latin typeface="Consolas"/>
              </a:rPr>
              <a:t>}</a:t>
            </a:r>
            <a:r>
              <a:rPr lang="en-US" sz="2000" b="1" dirty="0">
                <a:solidFill>
                  <a:srgbClr val="3B3B3B"/>
                </a:solidFill>
                <a:latin typeface="Consolas"/>
              </a:rPr>
              <a:t> </a:t>
            </a:r>
            <a:r>
              <a:rPr lang="en-US" sz="2000" b="1" dirty="0">
                <a:solidFill>
                  <a:srgbClr val="800000"/>
                </a:solidFill>
                <a:latin typeface="Consolas"/>
              </a:rPr>
              <a:t>/&gt;</a:t>
            </a:r>
            <a:endParaRPr lang="en-US" sz="2000" b="1" dirty="0">
              <a:solidFill>
                <a:srgbClr val="3B3B3B"/>
              </a:solidFill>
              <a:effectLst/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710073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11384</TotalTime>
  <Words>2420</Words>
  <Application>Microsoft Office PowerPoint</Application>
  <PresentationFormat>Custom</PresentationFormat>
  <Paragraphs>557</Paragraphs>
  <Slides>64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5" baseType="lpstr">
      <vt:lpstr>Facet</vt:lpstr>
      <vt:lpstr>ReactJS</vt:lpstr>
      <vt:lpstr>What is REACT</vt:lpstr>
      <vt:lpstr>PowerPoint Presentation</vt:lpstr>
      <vt:lpstr>PowerPoint Presentation</vt:lpstr>
      <vt:lpstr>Working of DOM</vt:lpstr>
      <vt:lpstr> Problems with JS</vt:lpstr>
      <vt:lpstr>Working with REACT</vt:lpstr>
      <vt:lpstr>JS Vs React </vt:lpstr>
      <vt:lpstr> Introduction to Components</vt:lpstr>
      <vt:lpstr>Install Latest Node</vt:lpstr>
      <vt:lpstr>Create a React App</vt:lpstr>
      <vt:lpstr>Project Structure</vt:lpstr>
      <vt:lpstr>Our First App </vt:lpstr>
      <vt:lpstr>Types of Components</vt:lpstr>
      <vt:lpstr>Importing and Exporting a component</vt:lpstr>
      <vt:lpstr>Importing and Exporting components</vt:lpstr>
      <vt:lpstr>Importing and Exporting components</vt:lpstr>
      <vt:lpstr>JSX</vt:lpstr>
      <vt:lpstr>Converting HTML to JSX  Many times valid HTML pasted in component gives you error</vt:lpstr>
      <vt:lpstr>The Rules of JSX</vt:lpstr>
      <vt:lpstr>Dynamic Components</vt:lpstr>
      <vt:lpstr>Dynamic Components</vt:lpstr>
      <vt:lpstr>Dynamic Components</vt:lpstr>
      <vt:lpstr>Reusable Components</vt:lpstr>
      <vt:lpstr>Including Bootstrap</vt:lpstr>
      <vt:lpstr>Including Bootstrap</vt:lpstr>
      <vt:lpstr>Project: TODO APP UI  In one component APP.JSX</vt:lpstr>
      <vt:lpstr>Project: TODO APP UI  Using different component and CSS</vt:lpstr>
      <vt:lpstr>MAP Method</vt:lpstr>
      <vt:lpstr>MAP Method</vt:lpstr>
      <vt:lpstr>Conditional Rendering</vt:lpstr>
      <vt:lpstr>Conditional Rendering</vt:lpstr>
      <vt:lpstr>Props</vt:lpstr>
      <vt:lpstr>Props : Example</vt:lpstr>
      <vt:lpstr>Props : Example</vt:lpstr>
      <vt:lpstr>PowerPoint Presentation</vt:lpstr>
      <vt:lpstr>Props : Example</vt:lpstr>
      <vt:lpstr>Props : Example</vt:lpstr>
      <vt:lpstr>Props : Passing Components as Children</vt:lpstr>
      <vt:lpstr>Props : Passing Components as Children</vt:lpstr>
      <vt:lpstr>Events</vt:lpstr>
      <vt:lpstr>Adding Event Handler</vt:lpstr>
      <vt:lpstr>Managing State</vt:lpstr>
      <vt:lpstr>Managing State</vt:lpstr>
      <vt:lpstr>Props vs State</vt:lpstr>
      <vt:lpstr>Forms in React</vt:lpstr>
      <vt:lpstr>Hook: Ref</vt:lpstr>
      <vt:lpstr>Hook: Ref</vt:lpstr>
      <vt:lpstr>Ref vs State</vt:lpstr>
      <vt:lpstr>Side Effect</vt:lpstr>
      <vt:lpstr>Hook: useEffect </vt:lpstr>
      <vt:lpstr>React Context: Context API</vt:lpstr>
      <vt:lpstr>React Context: Context API</vt:lpstr>
      <vt:lpstr>Managing Complex State with useReducer</vt:lpstr>
      <vt:lpstr>Data fetching</vt:lpstr>
      <vt:lpstr>Memoization: useCallback Hook</vt:lpstr>
      <vt:lpstr>Memoization: useMemo Hook</vt:lpstr>
      <vt:lpstr>useMemo vs useCallback</vt:lpstr>
      <vt:lpstr>Custom Hooks</vt:lpstr>
      <vt:lpstr>Custom Hooks: Ex</vt:lpstr>
      <vt:lpstr>Custom Hooks: Ex</vt:lpstr>
      <vt:lpstr>Custom Hooks: Ex</vt:lpstr>
      <vt:lpstr>Component Spectrum</vt:lpstr>
      <vt:lpstr>Polymorphic Components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</dc:title>
  <dc:creator>Gaurav Kansal</dc:creator>
  <cp:lastModifiedBy>dell</cp:lastModifiedBy>
  <cp:revision>104</cp:revision>
  <cp:lastPrinted>2026-06-11T11:46:54Z</cp:lastPrinted>
  <dcterms:created xsi:type="dcterms:W3CDTF">2024-04-08T17:13:41Z</dcterms:created>
  <dcterms:modified xsi:type="dcterms:W3CDTF">2026-06-11T11:46:57Z</dcterms:modified>
</cp:coreProperties>
</file>